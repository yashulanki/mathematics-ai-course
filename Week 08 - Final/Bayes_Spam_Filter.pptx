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c3fbef4-57a0-437e-62d1-b6d23cabd18d}">
          <p14:sldIdLst>
            <p14:sldId id="256"/>
          </p14:sldIdLst>
        </p14:section>
        <p14:section name="Christian Values and Principles" id="{39d995e2-6120-22c6-eb7e-2ab25b0d42e2}">
          <p14:sldIdLst>
            <p14:sldId id="257"/>
          </p14:sldIdLst>
        </p14:section>
        <p14:section name="Topic Selection" id="{313f4aa3-81f0-2cfe-9ddc-5e0971039a4c}">
          <p14:sldIdLst>
            <p14:sldId id="258"/>
          </p14:sldIdLst>
        </p14:section>
        <p14:section name="Mathematical Analysis" id="{042fbe16-e862-3355-b65e-65d4f042762c}">
          <p14:sldIdLst>
            <p14:sldId id="259"/>
            <p14:sldId id="260"/>
            <p14:sldId id="261"/>
            <p14:sldId id="262"/>
          </p14:sldIdLst>
        </p14:section>
        <p14:section name="AI Application" id="{908f82f6-5192-9028-e275-5178a4fcdab8}">
          <p14:sldIdLst>
            <p14:sldId id="263"/>
            <p14:sldId id="264"/>
          </p14:sldIdLst>
        </p14:section>
        <p14:section name="Free Market Considerations" id="{bbe91dbd-ec82-f16f-6800-8c740926524a}">
          <p14:sldIdLst>
            <p14:sldId id="265"/>
          </p14:sldIdLst>
        </p14:section>
        <p14:section name="Closing" id="{61a320f7-6eaf-cf14-8ca6-0f64f063daf5}">
          <p14:sldIdLst>
            <p14:sldId id="266"/>
          </p14:sldIdLst>
        </p14:section>
        <p14:section name="References" id="{773544b1-3ad7-14db-1982-42107c019f24}">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B4256"/>
                </a:solidFill>
                <a:latin typeface="+mn-lt"/>
              </a:defRPr>
            </a:pPr>
            <a:r>
              <a:rPr sz="1200" b="0" i="0" u="none" strike="noStrike">
                <a:solidFill>
                  <a:srgbClr val="3B4256"/>
                </a:solidFill>
                <a:latin typeface="+mn-lt"/>
              </a:rPr>
              <a:t>How many times more likely in spam than in normal texts</a:t>
            </a:r>
          </a:p>
        </c:rich>
      </c:tx>
      <c:layout/>
      <c:overlay val="0"/>
    </c:title>
    <c:autoTitleDeleted val="0"/>
    <c:plotArea>
      <c:layout/>
      <c:barChart>
        <c:barDir val="bar"/>
        <c:grouping val="stacked"/>
        <c:varyColors val="0"/>
        <c:ser>
          <c:idx val="0"/>
          <c:order val="0"/>
          <c:tx>
            <c:strRef>
              <c:f>Sheet1!$B$1</c:f>
              <c:strCache>
                <c:ptCount val="1"/>
                <c:pt idx="0">
                  <c:v>Points to spam</c:v>
                </c:pt>
              </c:strCache>
            </c:strRef>
          </c:tx>
          <c:spPr>
            <a:solidFill>
              <a:srgbClr val="C842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later</c:v>
                  </c:pt>
                  <c:pt idx="1">
                    <c:v>call</c:v>
                  </c:pt>
                  <c:pt idx="2">
                    <c:v>free</c:v>
                  </c:pt>
                  <c:pt idx="3">
                    <c:v>urgent</c:v>
                  </c:pt>
                  <c:pt idx="4">
                    <c:v>guaranteed</c:v>
                  </c:pt>
                  <c:pt idx="5">
                    <c:v>prize</c:v>
                  </c:pt>
                  <c:pt idx="6">
                    <c:v>claim</c:v>
                  </c:pt>
                </c:lvl>
              </c:multiLvlStrCache>
            </c:multiLvlStrRef>
          </c:cat>
          <c:val>
            <c:numRef>
              <c:f>Sheet1!$B$2:$B$8</c:f>
              <c:numCache>
                <c:formatCode>General</c:formatCode>
                <c:ptCount val="7"/>
                <c:pt idx="0">
                  <c:v>0</c:v>
                </c:pt>
                <c:pt idx="1">
                  <c:v>2.574031267727719</c:v>
                </c:pt>
                <c:pt idx="2">
                  <c:v>2.998259338423699</c:v>
                </c:pt>
                <c:pt idx="3">
                  <c:v>3.279894980011638</c:v>
                </c:pt>
                <c:pt idx="4">
                  <c:v>4.028001579346858</c:v>
                </c:pt>
                <c:pt idx="5">
                  <c:v>4.283278608610214</c:v>
                </c:pt>
                <c:pt idx="6">
                  <c:v>4.394416655665352</c:v>
                </c:pt>
              </c:numCache>
            </c:numRef>
          </c:val>
        </c:ser>
        <c:ser>
          <c:idx val="1"/>
          <c:order val="1"/>
          <c:tx>
            <c:strRef>
              <c:f>Sheet1!$C$1</c:f>
              <c:strCache>
                <c:ptCount val="1"/>
                <c:pt idx="0">
                  <c:v>Points to normal</c:v>
                </c:pt>
              </c:strCache>
            </c:strRef>
          </c:tx>
          <c:spPr>
            <a:solidFill>
              <a:srgbClr val="1F8A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later</c:v>
                  </c:pt>
                  <c:pt idx="1">
                    <c:v>call</c:v>
                  </c:pt>
                  <c:pt idx="2">
                    <c:v>free</c:v>
                  </c:pt>
                  <c:pt idx="3">
                    <c:v>urgent</c:v>
                  </c:pt>
                  <c:pt idx="4">
                    <c:v>guaranteed</c:v>
                  </c:pt>
                  <c:pt idx="5">
                    <c:v>prize</c:v>
                  </c:pt>
                  <c:pt idx="6">
                    <c:v>claim</c:v>
                  </c:pt>
                </c:lvl>
              </c:multiLvlStrCache>
            </c:multiLvlStrRef>
          </c:cat>
          <c:val>
            <c:numRef>
              <c:f>Sheet1!$C$2:$C$8</c:f>
              <c:numCache>
                <c:formatCode>General</c:formatCode>
                <c:ptCount val="7"/>
                <c:pt idx="0">
                  <c:v>0.30102999566398125</c:v>
                </c:pt>
                <c:pt idx="1">
                  <c:v>0</c:v>
                </c:pt>
                <c:pt idx="2">
                  <c:v>0</c:v>
                </c:pt>
                <c:pt idx="3">
                  <c:v>0</c:v>
                </c:pt>
                <c:pt idx="4">
                  <c:v>0</c:v>
                </c:pt>
                <c:pt idx="5">
                  <c:v>0</c:v>
                </c:pt>
                <c:pt idx="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B425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Yashu Lanki, and this is my AIT 525 final presentation. My topic is Bayes' theorem, and how AI uses it to decide whether a message is spam.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with values. As a Christian, I believe every person is made in God's image, so AI should serve people, not just profit. The ERLC's statement on AI and the Rome Call for AI Ethics share the same principles. Transparency means people can see why a system made a decision. Privacy means personal data is held in trust. Fairness means no group's honest messages get blocked more often. And the common good: Micah 6:8 asks us to act justly and love mercy, and a spam filter does that by protecting vulnerable people from scams.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Bayes' theorem, which is probability for decision making, a topic we didn't cover in class. Bayes' essay was published in 1763. In 1998, Sahami and colleagues used it to filter junk email, and Paul Graham's 2002 essay "A Plan for Spam" made it popular. Today it's built into tools like Thunderbird and SpamAssassin.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Bayes' theorem updates a belief when new evidence shows up. The prior is how common spam is before we read anything. The likelihood is how often a word shows up in spam. The evidence is how often that word shows up anywhere. Likelihood times prior, divided by evidence, gives the posterior: the updated chance the message is spam. Naive Bayes does this for every word, assumes the words are independent, and adds logarithms so tiny numbers don't round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real example from the SMS Spam Collection, 5,574 text messages. 13.4 percent are spam, so that's the prior. "Free" shows up in about 23 percent of spam but only about 1 percent of normal texts. 0.228 times 0.134, divided by 0.041, gives 74 percent. One word raises the chance of spam from 13 to 74 percent, and counting directly gives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Spam is my first example. The second is medical diagnosis. In Gigerenzer and Hoffrage's example, a disease affects 1 percent of people, the test catches 80 percent of cases, and it gives a false alarm 9.6 percent of the time. A positive test sounds scary, but Bayes says the real chance is only about 8 percent, because the disease is rare. The prior matters, and AI tools that ignore it overreact.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how this helps AI, I trained a Naive Bayes model on 80 percent of the messages and tested it on the rest. Training took about one millisecond, because it's just counting. It scored 98.5 percent accuracy, and only 3 of 966 normal texts were wrongly flagged. It's also transparent. This chart shows "claim" and "prize" are over 100 times more likely in spam, while a word like "later" points to a normal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application is the Bayesian spam filter in SpamAssassin and Thunderbird's junk filter. A message is split into words, each word's spam probability is looked up, Bayes combines them, and the score is compared to a threshold. Low scores go to the inbox, high scores go to junk, and every junk or not-junk click updates the counts, so it learns your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worked well. Graham's filter missed fewer than 5 in 1,000 spams with zero false positives, and my test landed in a similar range. But spammers fight back. Wittel and Wu showed that adding innocent words, called Bayesian poisoning, can sneak spam past the filter. Spammers also misspell words or hide text in images. That's why Gmail now adds deep learning, which Google said blocks about 100 million more spam messages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free market. Consumers want a clean, safe inbox, so email providers compete on filtering. Spam is expensive: Rao and Reiley estimated it costs U.S. firms and consumers about 20 billion dollars a year, while spammers earn only about 200 million. A Bayes filter cuts that cost cheaply, because simple counting runs on ordinary servers, which saves resources and time. It also created new markets, like email security, open-source tools, and fraud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Bayes' theorem means updating what you believe when you see evidence. It's cheap, fast, and explainable, and when it's built with transparency, privacy, and fairness, it serves the common good.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926080"/>
            <a:ext cx="8046720" cy="1463040"/>
          </a:xfrm>
          <a:prstGeom prst="rect">
            <a:avLst/>
          </a:prstGeom>
          <a:noFill/>
          <a:ln/>
        </p:spPr>
        <p:txBody>
          <a:bodyPr wrap="square" rtlCol="0"/>
          <a:lstStyle>
            <a:lvl1pPr indent="0" marL="0">
              <a:buNone/>
              <a:defRPr lang="en-US" sz="1800" dirty="0">
                <a:solidFill>
                  <a:schemeClr val="bg2"/>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nvelope circle"/>
          <p:cNvSpPr/>
          <p:nvPr/>
        </p:nvSpPr>
        <p:spPr>
          <a:xfrm>
            <a:off x="548640" y="548640"/>
            <a:ext cx="731520" cy="731520"/>
          </a:xfrm>
          <a:prstGeom prst="ellipse">
            <a:avLst/>
          </a:prstGeom>
          <a:solidFill>
            <a:schemeClr val="accent1"/>
          </a:solidFill>
          <a:ln/>
        </p:spPr>
      </p:sp>
      <p:pic>
        <p:nvPicPr>
          <p:cNvPr id="3" name="Envelope icon" descr="preencoded.png">    </p:cNvPr>
          <p:cNvPicPr>
            <a:picLocks noChangeAspect="1"/>
          </p:cNvPicPr>
          <p:nvPr/>
        </p:nvPicPr>
        <p:blipFill>
          <a:blip r:embed="rId1"/>
          <a:stretch>
            <a:fillRect/>
          </a:stretch>
        </p:blipFill>
        <p:spPr>
          <a:xfrm>
            <a:off x="731520" y="731520"/>
            <a:ext cx="365760" cy="365760"/>
          </a:xfrm>
          <a:prstGeom prst="rect">
            <a:avLst/>
          </a:prstGeom>
        </p:spPr>
      </p:pic>
      <p:sp>
        <p:nvSpPr>
          <p:cNvPr id="4" name="Text 0"/>
          <p:cNvSpPr/>
          <p:nvPr>
            <p:ph idx="100" type="title" hasCustomPrompt="1"/>
          </p:nvPr>
        </p:nvSpPr>
        <p:spPr>
          <a:xfrm>
            <a:off x="548640" y="137160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Bayes' Theorem: How AI Learns to Spot Spam</a:t>
            </a:r>
            <a:endParaRPr lang="en-US" sz="4000" dirty="0"/>
          </a:p>
        </p:txBody>
      </p:sp>
      <p:sp>
        <p:nvSpPr>
          <p:cNvPr id="5" name="Text 0"/>
          <p:cNvSpPr/>
          <p:nvPr>
            <p:ph idx="101" type="body" hasCustomPrompt="1"/>
          </p:nvPr>
        </p:nvSpPr>
        <p:spPr>
          <a:xfrm>
            <a:off x="548640" y="2926080"/>
            <a:ext cx="8046720" cy="1463040"/>
          </a:xfrm>
          <a:prstGeom prst="rect">
            <a:avLst/>
          </a:prstGeom>
          <a:noFill/>
          <a:ln/>
        </p:spPr>
        <p:txBody>
          <a:bodyPr wrap="square" lIns="0" tIns="0" rIns="0" bIns="0" rtlCol="0" anchor="t"/>
          <a:lstStyle/>
          <a:p>
            <a:pPr indent="0" marL="0">
              <a:buNone/>
            </a:pPr>
            <a:r>
              <a:rPr lang="en-US" sz="1800" i="1" dirty="0">
                <a:solidFill>
                  <a:schemeClr val="accent3"/>
                </a:solidFill>
                <a:latin typeface="Calibri" pitchFamily="34" charset="0"/>
                <a:ea typeface="Calibri" pitchFamily="34" charset="-122"/>
                <a:cs typeface="Calibri" pitchFamily="34" charset="-120"/>
              </a:rPr>
              <a:t>Probability for decision making in AI</a:t>
            </a:r>
            <a:endParaRPr lang="en-US" sz="1800" dirty="0"/>
          </a:p>
          <a:p>
            <a:pPr indent="0" marL="0">
              <a:buNone/>
            </a:pPr>
            <a:r>
              <a:rPr lang="en-US" sz="1800" dirty="0">
                <a:solidFill>
                  <a:schemeClr val="bg2"/>
                </a:solidFill>
                <a:latin typeface="Calibri" pitchFamily="34" charset="0"/>
                <a:ea typeface="Calibri" pitchFamily="34" charset="-122"/>
                <a:cs typeface="Calibri" pitchFamily="34" charset="-120"/>
              </a:rPr>
              <a:t>Yashu Lanki  |  AIT 525: Mathematics for AI  |  Grand Canyon University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Christian Values Guide Responsible AI</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Every person bears God's image, so AI should serve people, not just profit (ERLC, 2019).</a:t>
            </a:r>
            <a:endParaRPr lang="en-US" sz="1500" dirty="0"/>
          </a:p>
        </p:txBody>
      </p:sp>
      <p:sp>
        <p:nvSpPr>
          <p:cNvPr id="4" name="Transparency card"/>
          <p:cNvSpPr/>
          <p:nvPr/>
        </p:nvSpPr>
        <p:spPr>
          <a:xfrm>
            <a:off x="457200" y="1508760"/>
            <a:ext cx="1874520" cy="2331720"/>
          </a:xfrm>
          <a:prstGeom prst="roundRect">
            <a:avLst>
              <a:gd name="adj" fmla="val 3902"/>
            </a:avLst>
          </a:prstGeom>
          <a:solidFill>
            <a:schemeClr val="bg2"/>
          </a:solidFill>
          <a:ln/>
        </p:spPr>
      </p:sp>
      <p:sp>
        <p:nvSpPr>
          <p:cNvPr id="5" name="Transparency circle"/>
          <p:cNvSpPr/>
          <p:nvPr/>
        </p:nvSpPr>
        <p:spPr>
          <a:xfrm>
            <a:off x="1097280" y="1737360"/>
            <a:ext cx="594360" cy="594360"/>
          </a:xfrm>
          <a:prstGeom prst="ellipse">
            <a:avLst/>
          </a:prstGeom>
          <a:solidFill>
            <a:schemeClr val="accent6"/>
          </a:solidFill>
          <a:ln/>
        </p:spPr>
      </p:sp>
      <p:pic>
        <p:nvPicPr>
          <p:cNvPr id="6" name="Transparency icon" descr="preencoded.png">    </p:cNvPr>
          <p:cNvPicPr>
            <a:picLocks noChangeAspect="1"/>
          </p:cNvPicPr>
          <p:nvPr/>
        </p:nvPicPr>
        <p:blipFill>
          <a:blip r:embed="rId1"/>
          <a:stretch>
            <a:fillRect/>
          </a:stretch>
        </p:blipFill>
        <p:spPr>
          <a:xfrm>
            <a:off x="1245870" y="1885950"/>
            <a:ext cx="297180" cy="297180"/>
          </a:xfrm>
          <a:prstGeom prst="rect">
            <a:avLst/>
          </a:prstGeom>
        </p:spPr>
      </p:pic>
      <p:sp>
        <p:nvSpPr>
          <p:cNvPr id="7" name="Text 4"/>
          <p:cNvSpPr txBox="1"/>
          <p:nvPr/>
        </p:nvSpPr>
        <p:spPr>
          <a:xfrm>
            <a:off x="594360" y="2468880"/>
            <a:ext cx="1600200" cy="36576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Transparency</a:t>
            </a:r>
            <a:endParaRPr lang="en-US" sz="1700" dirty="0"/>
          </a:p>
        </p:txBody>
      </p:sp>
      <p:sp>
        <p:nvSpPr>
          <p:cNvPr id="8" name="Text 5"/>
          <p:cNvSpPr txBox="1"/>
          <p:nvPr/>
        </p:nvSpPr>
        <p:spPr>
          <a:xfrm>
            <a:off x="594360" y="2880360"/>
            <a:ext cx="1600200" cy="8229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People can see why a message was flagged</a:t>
            </a:r>
            <a:endParaRPr lang="en-US" sz="1400" dirty="0"/>
          </a:p>
        </p:txBody>
      </p:sp>
      <p:sp>
        <p:nvSpPr>
          <p:cNvPr id="9" name="Privacy card"/>
          <p:cNvSpPr/>
          <p:nvPr/>
        </p:nvSpPr>
        <p:spPr>
          <a:xfrm>
            <a:off x="2560320" y="1508760"/>
            <a:ext cx="1874520" cy="2331720"/>
          </a:xfrm>
          <a:prstGeom prst="roundRect">
            <a:avLst>
              <a:gd name="adj" fmla="val 3902"/>
            </a:avLst>
          </a:prstGeom>
          <a:solidFill>
            <a:schemeClr val="bg2"/>
          </a:solidFill>
          <a:ln/>
        </p:spPr>
      </p:sp>
      <p:sp>
        <p:nvSpPr>
          <p:cNvPr id="10" name="Privacy circle"/>
          <p:cNvSpPr/>
          <p:nvPr/>
        </p:nvSpPr>
        <p:spPr>
          <a:xfrm>
            <a:off x="3200400" y="1737360"/>
            <a:ext cx="594360" cy="594360"/>
          </a:xfrm>
          <a:prstGeom prst="ellipse">
            <a:avLst/>
          </a:prstGeom>
          <a:solidFill>
            <a:schemeClr val="accent4"/>
          </a:solidFill>
          <a:ln/>
        </p:spPr>
      </p:sp>
      <p:pic>
        <p:nvPicPr>
          <p:cNvPr id="11" name="Privacy icon" descr="preencoded.png">    </p:cNvPr>
          <p:cNvPicPr>
            <a:picLocks noChangeAspect="1"/>
          </p:cNvPicPr>
          <p:nvPr/>
        </p:nvPicPr>
        <p:blipFill>
          <a:blip r:embed="rId2"/>
          <a:stretch>
            <a:fillRect/>
          </a:stretch>
        </p:blipFill>
        <p:spPr>
          <a:xfrm>
            <a:off x="3348990" y="1885950"/>
            <a:ext cx="297180" cy="297180"/>
          </a:xfrm>
          <a:prstGeom prst="rect">
            <a:avLst/>
          </a:prstGeom>
        </p:spPr>
      </p:pic>
      <p:sp>
        <p:nvSpPr>
          <p:cNvPr id="12" name="Text 8"/>
          <p:cNvSpPr txBox="1"/>
          <p:nvPr/>
        </p:nvSpPr>
        <p:spPr>
          <a:xfrm>
            <a:off x="2697480" y="2468880"/>
            <a:ext cx="1600200" cy="36576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Privacy</a:t>
            </a:r>
            <a:endParaRPr lang="en-US" sz="1700" dirty="0"/>
          </a:p>
        </p:txBody>
      </p:sp>
      <p:sp>
        <p:nvSpPr>
          <p:cNvPr id="13" name="Text 9"/>
          <p:cNvSpPr txBox="1"/>
          <p:nvPr/>
        </p:nvSpPr>
        <p:spPr>
          <a:xfrm>
            <a:off x="2697480" y="2880360"/>
            <a:ext cx="1600200" cy="8229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Personal data is held in trust, not exploited</a:t>
            </a:r>
            <a:endParaRPr lang="en-US" sz="1400" dirty="0"/>
          </a:p>
        </p:txBody>
      </p:sp>
      <p:sp>
        <p:nvSpPr>
          <p:cNvPr id="14" name="Fairness card"/>
          <p:cNvSpPr/>
          <p:nvPr/>
        </p:nvSpPr>
        <p:spPr>
          <a:xfrm>
            <a:off x="4663440" y="1508760"/>
            <a:ext cx="1874520" cy="2331720"/>
          </a:xfrm>
          <a:prstGeom prst="roundRect">
            <a:avLst>
              <a:gd name="adj" fmla="val 3902"/>
            </a:avLst>
          </a:prstGeom>
          <a:solidFill>
            <a:schemeClr val="bg2"/>
          </a:solidFill>
          <a:ln/>
        </p:spPr>
      </p:sp>
      <p:sp>
        <p:nvSpPr>
          <p:cNvPr id="15" name="Fairness circle"/>
          <p:cNvSpPr/>
          <p:nvPr/>
        </p:nvSpPr>
        <p:spPr>
          <a:xfrm>
            <a:off x="5303520" y="1737360"/>
            <a:ext cx="594360" cy="594360"/>
          </a:xfrm>
          <a:prstGeom prst="ellipse">
            <a:avLst/>
          </a:prstGeom>
          <a:solidFill>
            <a:schemeClr val="accent3"/>
          </a:solidFill>
          <a:ln/>
        </p:spPr>
      </p:sp>
      <p:pic>
        <p:nvPicPr>
          <p:cNvPr id="16" name="Fairness icon" descr="preencoded.png">    </p:cNvPr>
          <p:cNvPicPr>
            <a:picLocks noChangeAspect="1"/>
          </p:cNvPicPr>
          <p:nvPr/>
        </p:nvPicPr>
        <p:blipFill>
          <a:blip r:embed="rId3"/>
          <a:stretch>
            <a:fillRect/>
          </a:stretch>
        </p:blipFill>
        <p:spPr>
          <a:xfrm>
            <a:off x="5452110" y="1885950"/>
            <a:ext cx="297180" cy="297180"/>
          </a:xfrm>
          <a:prstGeom prst="rect">
            <a:avLst/>
          </a:prstGeom>
        </p:spPr>
      </p:pic>
      <p:sp>
        <p:nvSpPr>
          <p:cNvPr id="17" name="Text 12"/>
          <p:cNvSpPr txBox="1"/>
          <p:nvPr/>
        </p:nvSpPr>
        <p:spPr>
          <a:xfrm>
            <a:off x="4800600" y="2468880"/>
            <a:ext cx="1600200" cy="36576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Fairness</a:t>
            </a:r>
            <a:endParaRPr lang="en-US" sz="1700" dirty="0"/>
          </a:p>
        </p:txBody>
      </p:sp>
      <p:sp>
        <p:nvSpPr>
          <p:cNvPr id="18" name="Text 13"/>
          <p:cNvSpPr txBox="1"/>
          <p:nvPr/>
        </p:nvSpPr>
        <p:spPr>
          <a:xfrm>
            <a:off x="4800600" y="2880360"/>
            <a:ext cx="1600200" cy="8229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No group's honest messages blocked more often</a:t>
            </a:r>
            <a:endParaRPr lang="en-US" sz="1400" dirty="0"/>
          </a:p>
        </p:txBody>
      </p:sp>
      <p:sp>
        <p:nvSpPr>
          <p:cNvPr id="19" name="Common Good card"/>
          <p:cNvSpPr/>
          <p:nvPr/>
        </p:nvSpPr>
        <p:spPr>
          <a:xfrm>
            <a:off x="6766560" y="1508760"/>
            <a:ext cx="1874520" cy="2331720"/>
          </a:xfrm>
          <a:prstGeom prst="roundRect">
            <a:avLst>
              <a:gd name="adj" fmla="val 3902"/>
            </a:avLst>
          </a:prstGeom>
          <a:solidFill>
            <a:schemeClr val="bg2"/>
          </a:solidFill>
          <a:ln/>
        </p:spPr>
      </p:sp>
      <p:sp>
        <p:nvSpPr>
          <p:cNvPr id="20" name="Common Good circle"/>
          <p:cNvSpPr/>
          <p:nvPr/>
        </p:nvSpPr>
        <p:spPr>
          <a:xfrm>
            <a:off x="7406640" y="1737360"/>
            <a:ext cx="594360" cy="594360"/>
          </a:xfrm>
          <a:prstGeom prst="ellipse">
            <a:avLst/>
          </a:prstGeom>
          <a:solidFill>
            <a:schemeClr val="accent2"/>
          </a:solidFill>
          <a:ln/>
        </p:spPr>
      </p:sp>
      <p:pic>
        <p:nvPicPr>
          <p:cNvPr id="21" name="Common Good icon" descr="preencoded.png">    </p:cNvPr>
          <p:cNvPicPr>
            <a:picLocks noChangeAspect="1"/>
          </p:cNvPicPr>
          <p:nvPr/>
        </p:nvPicPr>
        <p:blipFill>
          <a:blip r:embed="rId4"/>
          <a:stretch>
            <a:fillRect/>
          </a:stretch>
        </p:blipFill>
        <p:spPr>
          <a:xfrm>
            <a:off x="7555230" y="1885950"/>
            <a:ext cx="297180" cy="297180"/>
          </a:xfrm>
          <a:prstGeom prst="rect">
            <a:avLst/>
          </a:prstGeom>
        </p:spPr>
      </p:pic>
      <p:sp>
        <p:nvSpPr>
          <p:cNvPr id="22" name="Text 16"/>
          <p:cNvSpPr txBox="1"/>
          <p:nvPr/>
        </p:nvSpPr>
        <p:spPr>
          <a:xfrm>
            <a:off x="6903720" y="2468880"/>
            <a:ext cx="1600200" cy="365760"/>
          </a:xfrm>
          <a:prstGeom prst="rect">
            <a:avLst/>
          </a:prstGeom>
          <a:no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Common Good</a:t>
            </a:r>
            <a:endParaRPr lang="en-US" sz="1700" dirty="0"/>
          </a:p>
        </p:txBody>
      </p:sp>
      <p:sp>
        <p:nvSpPr>
          <p:cNvPr id="23" name="Text 17"/>
          <p:cNvSpPr txBox="1"/>
          <p:nvPr/>
        </p:nvSpPr>
        <p:spPr>
          <a:xfrm>
            <a:off x="6903720" y="2880360"/>
            <a:ext cx="1600200" cy="8229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Protects the vulnerable from scams and fraud</a:t>
            </a:r>
            <a:endParaRPr lang="en-US" sz="1400" dirty="0"/>
          </a:p>
        </p:txBody>
      </p:sp>
      <p:sp>
        <p:nvSpPr>
          <p:cNvPr id="24" name="Text 18"/>
          <p:cNvSpPr txBox="1"/>
          <p:nvPr/>
        </p:nvSpPr>
        <p:spPr>
          <a:xfrm>
            <a:off x="457200" y="4023360"/>
            <a:ext cx="8229600" cy="502920"/>
          </a:xfrm>
          <a:prstGeom prst="rect">
            <a:avLst/>
          </a:prstGeom>
          <a:noFill/>
          <a:ln/>
        </p:spPr>
        <p:txBody>
          <a:bodyPr wrap="square" lIns="0" tIns="0" rIns="0" bIns="0" rtlCol="0" anchor="ctr"/>
          <a:lstStyle/>
          <a:p>
            <a:pPr indent="0" marL="0">
              <a:buNone/>
            </a:pPr>
            <a:r>
              <a:rPr lang="en-US" sz="1400" b="1" i="1" dirty="0">
                <a:solidFill>
                  <a:schemeClr val="accent1"/>
                </a:solidFill>
                <a:latin typeface="Calibri" pitchFamily="34" charset="0"/>
                <a:ea typeface="Calibri" pitchFamily="34" charset="-122"/>
                <a:cs typeface="Calibri" pitchFamily="34" charset="-120"/>
              </a:rPr>
              <a:t>“Act justly and love mercy” </a:t>
            </a:r>
            <a:pPr indent="0" marL="0">
              <a:buNone/>
            </a:pPr>
            <a:r>
              <a:rPr lang="en-US" sz="1400" dirty="0">
                <a:solidFill>
                  <a:schemeClr val="tx2"/>
                </a:solidFill>
                <a:latin typeface="Calibri" pitchFamily="34" charset="0"/>
                <a:ea typeface="Calibri" pitchFamily="34" charset="-122"/>
                <a:cs typeface="Calibri" pitchFamily="34" charset="-120"/>
              </a:rPr>
              <a:t>(Micah 6:8, NIV). The Rome Call for AI Ethics names the same principles (Pontifical Academy for Life, 2020).</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Topic: Bayes' Theorem and Spam Filtering</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Probability for decision making under uncertainty, a topic not covered in class.</a:t>
            </a:r>
            <a:endParaRPr lang="en-US" sz="1500" dirty="0"/>
          </a:p>
        </p:txBody>
      </p:sp>
      <p:sp>
        <p:nvSpPr>
          <p:cNvPr id="4" name="Timeline line"/>
          <p:cNvSpPr/>
          <p:nvPr/>
        </p:nvSpPr>
        <p:spPr>
          <a:xfrm>
            <a:off x="822960" y="2514600"/>
            <a:ext cx="7498080" cy="0"/>
          </a:xfrm>
          <a:prstGeom prst="line">
            <a:avLst/>
          </a:prstGeom>
          <a:noFill/>
          <a:ln w="25400">
            <a:solidFill>
              <a:srgbClr val="B9BFCC"/>
            </a:solidFill>
            <a:prstDash val="solid"/>
          </a:ln>
        </p:spPr>
      </p:sp>
      <p:sp>
        <p:nvSpPr>
          <p:cNvPr id="5" name="Dot 1763"/>
          <p:cNvSpPr/>
          <p:nvPr/>
        </p:nvSpPr>
        <p:spPr>
          <a:xfrm>
            <a:off x="1124712" y="2359152"/>
            <a:ext cx="310896" cy="310896"/>
          </a:xfrm>
          <a:prstGeom prst="ellipse">
            <a:avLst/>
          </a:prstGeom>
          <a:solidFill>
            <a:schemeClr val="tx1"/>
          </a:solidFill>
          <a:ln w="25400">
            <a:solidFill>
              <a:schemeClr val="bg1"/>
            </a:solidFill>
            <a:prstDash val="solid"/>
          </a:ln>
        </p:spPr>
      </p:sp>
      <p:sp>
        <p:nvSpPr>
          <p:cNvPr id="6" name="Text 4"/>
          <p:cNvSpPr txBox="1"/>
          <p:nvPr/>
        </p:nvSpPr>
        <p:spPr>
          <a:xfrm>
            <a:off x="365760" y="1691640"/>
            <a:ext cx="1828800" cy="5029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1763</a:t>
            </a:r>
            <a:endParaRPr lang="en-US" sz="2600" dirty="0"/>
          </a:p>
        </p:txBody>
      </p:sp>
      <p:sp>
        <p:nvSpPr>
          <p:cNvPr id="7" name="Text 5"/>
          <p:cNvSpPr txBox="1"/>
          <p:nvPr/>
        </p:nvSpPr>
        <p:spPr>
          <a:xfrm>
            <a:off x="320040" y="2834640"/>
            <a:ext cx="1920240" cy="8686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Bayes' essay on updating beliefs is published</a:t>
            </a:r>
            <a:endParaRPr lang="en-US" sz="1400" dirty="0"/>
          </a:p>
        </p:txBody>
      </p:sp>
      <p:sp>
        <p:nvSpPr>
          <p:cNvPr id="8" name="Text 6"/>
          <p:cNvSpPr txBox="1"/>
          <p:nvPr/>
        </p:nvSpPr>
        <p:spPr>
          <a:xfrm>
            <a:off x="320040" y="3703320"/>
            <a:ext cx="1920240" cy="320040"/>
          </a:xfrm>
          <a:prstGeom prst="rect">
            <a:avLst/>
          </a:prstGeom>
          <a:noFill/>
          <a:ln/>
        </p:spPr>
        <p:txBody>
          <a:bodyPr wrap="square" lIns="0" tIns="0" rIns="0" bIns="0" rtlCol="0" anchor="ctr"/>
          <a:lstStyle/>
          <a:p>
            <a:pPr algn="ctr" indent="0" marL="0">
              <a:buNone/>
            </a:pPr>
            <a:r>
              <a:rPr lang="en-US" sz="1100" i="1" dirty="0">
                <a:solidFill>
                  <a:srgbClr val="6B7286"/>
                </a:solidFill>
                <a:latin typeface="Calibri" pitchFamily="34" charset="0"/>
                <a:ea typeface="Calibri" pitchFamily="34" charset="-122"/>
                <a:cs typeface="Calibri" pitchFamily="34" charset="-120"/>
              </a:rPr>
              <a:t>(Bayes, 1763)</a:t>
            </a:r>
            <a:endParaRPr lang="en-US" sz="1100" dirty="0"/>
          </a:p>
        </p:txBody>
      </p:sp>
      <p:sp>
        <p:nvSpPr>
          <p:cNvPr id="9" name="Dot 1998"/>
          <p:cNvSpPr/>
          <p:nvPr/>
        </p:nvSpPr>
        <p:spPr>
          <a:xfrm>
            <a:off x="3319272" y="2359152"/>
            <a:ext cx="310896" cy="310896"/>
          </a:xfrm>
          <a:prstGeom prst="ellipse">
            <a:avLst/>
          </a:prstGeom>
          <a:solidFill>
            <a:schemeClr val="tx1"/>
          </a:solidFill>
          <a:ln w="25400">
            <a:solidFill>
              <a:schemeClr val="bg1"/>
            </a:solidFill>
            <a:prstDash val="solid"/>
          </a:ln>
        </p:spPr>
      </p:sp>
      <p:sp>
        <p:nvSpPr>
          <p:cNvPr id="10" name="Text 8"/>
          <p:cNvSpPr txBox="1"/>
          <p:nvPr/>
        </p:nvSpPr>
        <p:spPr>
          <a:xfrm>
            <a:off x="2560320" y="1691640"/>
            <a:ext cx="1828800" cy="5029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1998</a:t>
            </a:r>
            <a:endParaRPr lang="en-US" sz="2600" dirty="0"/>
          </a:p>
        </p:txBody>
      </p:sp>
      <p:sp>
        <p:nvSpPr>
          <p:cNvPr id="11" name="Text 9"/>
          <p:cNvSpPr txBox="1"/>
          <p:nvPr/>
        </p:nvSpPr>
        <p:spPr>
          <a:xfrm>
            <a:off x="2514600" y="2834640"/>
            <a:ext cx="1920240" cy="8686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Bayes applied to filtering junk email</a:t>
            </a:r>
            <a:endParaRPr lang="en-US" sz="1400" dirty="0"/>
          </a:p>
        </p:txBody>
      </p:sp>
      <p:sp>
        <p:nvSpPr>
          <p:cNvPr id="12" name="Text 10"/>
          <p:cNvSpPr txBox="1"/>
          <p:nvPr/>
        </p:nvSpPr>
        <p:spPr>
          <a:xfrm>
            <a:off x="2514600" y="3703320"/>
            <a:ext cx="1920240" cy="320040"/>
          </a:xfrm>
          <a:prstGeom prst="rect">
            <a:avLst/>
          </a:prstGeom>
          <a:noFill/>
          <a:ln/>
        </p:spPr>
        <p:txBody>
          <a:bodyPr wrap="square" lIns="0" tIns="0" rIns="0" bIns="0" rtlCol="0" anchor="ctr"/>
          <a:lstStyle/>
          <a:p>
            <a:pPr algn="ctr" indent="0" marL="0">
              <a:buNone/>
            </a:pPr>
            <a:r>
              <a:rPr lang="en-US" sz="1100" i="1" dirty="0">
                <a:solidFill>
                  <a:srgbClr val="6B7286"/>
                </a:solidFill>
                <a:latin typeface="Calibri" pitchFamily="34" charset="0"/>
                <a:ea typeface="Calibri" pitchFamily="34" charset="-122"/>
                <a:cs typeface="Calibri" pitchFamily="34" charset="-120"/>
              </a:rPr>
              <a:t>(Sahami et al., 1998)</a:t>
            </a:r>
            <a:endParaRPr lang="en-US" sz="1100" dirty="0"/>
          </a:p>
        </p:txBody>
      </p:sp>
      <p:sp>
        <p:nvSpPr>
          <p:cNvPr id="13" name="Dot 2002"/>
          <p:cNvSpPr/>
          <p:nvPr/>
        </p:nvSpPr>
        <p:spPr>
          <a:xfrm>
            <a:off x="5513832" y="2359152"/>
            <a:ext cx="310896" cy="310896"/>
          </a:xfrm>
          <a:prstGeom prst="ellipse">
            <a:avLst/>
          </a:prstGeom>
          <a:solidFill>
            <a:schemeClr val="tx1"/>
          </a:solidFill>
          <a:ln w="25400">
            <a:solidFill>
              <a:schemeClr val="bg1"/>
            </a:solidFill>
            <a:prstDash val="solid"/>
          </a:ln>
        </p:spPr>
      </p:sp>
      <p:sp>
        <p:nvSpPr>
          <p:cNvPr id="14" name="Text 12"/>
          <p:cNvSpPr txBox="1"/>
          <p:nvPr/>
        </p:nvSpPr>
        <p:spPr>
          <a:xfrm>
            <a:off x="4754880" y="1691640"/>
            <a:ext cx="1828800" cy="50292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2002</a:t>
            </a:r>
            <a:endParaRPr lang="en-US" sz="2600" dirty="0"/>
          </a:p>
        </p:txBody>
      </p:sp>
      <p:sp>
        <p:nvSpPr>
          <p:cNvPr id="15" name="Text 13"/>
          <p:cNvSpPr txBox="1"/>
          <p:nvPr/>
        </p:nvSpPr>
        <p:spPr>
          <a:xfrm>
            <a:off x="4709160" y="2834640"/>
            <a:ext cx="1920240" cy="8686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“A Plan for Spam” makes Bayesian filters popular</a:t>
            </a:r>
            <a:endParaRPr lang="en-US" sz="1400" dirty="0"/>
          </a:p>
        </p:txBody>
      </p:sp>
      <p:sp>
        <p:nvSpPr>
          <p:cNvPr id="16" name="Text 14"/>
          <p:cNvSpPr txBox="1"/>
          <p:nvPr/>
        </p:nvSpPr>
        <p:spPr>
          <a:xfrm>
            <a:off x="4709160" y="3703320"/>
            <a:ext cx="1920240" cy="320040"/>
          </a:xfrm>
          <a:prstGeom prst="rect">
            <a:avLst/>
          </a:prstGeom>
          <a:noFill/>
          <a:ln/>
        </p:spPr>
        <p:txBody>
          <a:bodyPr wrap="square" lIns="0" tIns="0" rIns="0" bIns="0" rtlCol="0" anchor="ctr"/>
          <a:lstStyle/>
          <a:p>
            <a:pPr algn="ctr" indent="0" marL="0">
              <a:buNone/>
            </a:pPr>
            <a:r>
              <a:rPr lang="en-US" sz="1100" i="1" dirty="0">
                <a:solidFill>
                  <a:srgbClr val="6B7286"/>
                </a:solidFill>
                <a:latin typeface="Calibri" pitchFamily="34" charset="0"/>
                <a:ea typeface="Calibri" pitchFamily="34" charset="-122"/>
                <a:cs typeface="Calibri" pitchFamily="34" charset="-120"/>
              </a:rPr>
              <a:t>(Graham, 2002)</a:t>
            </a:r>
            <a:endParaRPr lang="en-US" sz="1100" dirty="0"/>
          </a:p>
        </p:txBody>
      </p:sp>
      <p:sp>
        <p:nvSpPr>
          <p:cNvPr id="17" name="Dot Today"/>
          <p:cNvSpPr/>
          <p:nvPr/>
        </p:nvSpPr>
        <p:spPr>
          <a:xfrm>
            <a:off x="7708392" y="2359152"/>
            <a:ext cx="310896" cy="310896"/>
          </a:xfrm>
          <a:prstGeom prst="ellipse">
            <a:avLst/>
          </a:prstGeom>
          <a:solidFill>
            <a:schemeClr val="accent1"/>
          </a:solidFill>
          <a:ln w="25400">
            <a:solidFill>
              <a:schemeClr val="bg1"/>
            </a:solidFill>
            <a:prstDash val="solid"/>
          </a:ln>
        </p:spPr>
      </p:sp>
      <p:sp>
        <p:nvSpPr>
          <p:cNvPr id="18" name="Text 16"/>
          <p:cNvSpPr txBox="1"/>
          <p:nvPr/>
        </p:nvSpPr>
        <p:spPr>
          <a:xfrm>
            <a:off x="6949440" y="1691640"/>
            <a:ext cx="1828800" cy="50292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Today</a:t>
            </a:r>
            <a:endParaRPr lang="en-US" sz="2600" dirty="0"/>
          </a:p>
        </p:txBody>
      </p:sp>
      <p:sp>
        <p:nvSpPr>
          <p:cNvPr id="19" name="Text 17"/>
          <p:cNvSpPr txBox="1"/>
          <p:nvPr/>
        </p:nvSpPr>
        <p:spPr>
          <a:xfrm>
            <a:off x="6903720" y="2834640"/>
            <a:ext cx="1920240" cy="8686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Built into Thunderbird, SpamAssassin, and many more</a:t>
            </a:r>
            <a:endParaRPr lang="en-US" sz="1400" dirty="0"/>
          </a:p>
        </p:txBody>
      </p:sp>
      <p:sp>
        <p:nvSpPr>
          <p:cNvPr id="20" name="Text 18"/>
          <p:cNvSpPr txBox="1"/>
          <p:nvPr/>
        </p:nvSpPr>
        <p:spPr>
          <a:xfrm>
            <a:off x="6903720" y="3703320"/>
            <a:ext cx="1920240" cy="320040"/>
          </a:xfrm>
          <a:prstGeom prst="rect">
            <a:avLst/>
          </a:prstGeom>
          <a:noFill/>
          <a:ln/>
        </p:spPr>
        <p:txBody>
          <a:bodyPr wrap="square" lIns="0" tIns="0" rIns="0" bIns="0" rtlCol="0" anchor="ctr"/>
          <a:lstStyle/>
          <a:p>
            <a:pPr algn="ctr" indent="0" marL="0">
              <a:buNone/>
            </a:pPr>
            <a:r>
              <a:rPr lang="en-US" sz="1100" i="1" dirty="0">
                <a:solidFill>
                  <a:srgbClr val="6B7286"/>
                </a:solidFill>
                <a:latin typeface="Calibri" pitchFamily="34" charset="0"/>
                <a:ea typeface="Calibri" pitchFamily="34" charset="-122"/>
                <a:cs typeface="Calibri" pitchFamily="34" charset="-120"/>
              </a:rPr>
              <a:t>(Apache, n.d.)</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Bayes' Theorem: Updating a Belief</a:t>
            </a:r>
            <a:endParaRPr lang="en-US" sz="3000" dirty="0"/>
          </a:p>
        </p:txBody>
      </p:sp>
      <p:sp>
        <p:nvSpPr>
          <p:cNvPr id="3" name="Formula card"/>
          <p:cNvSpPr/>
          <p:nvPr/>
        </p:nvSpPr>
        <p:spPr>
          <a:xfrm>
            <a:off x="457200" y="1051560"/>
            <a:ext cx="8229600" cy="1234440"/>
          </a:xfrm>
          <a:prstGeom prst="roundRect">
            <a:avLst>
              <a:gd name="adj" fmla="val 5926"/>
            </a:avLst>
          </a:prstGeom>
          <a:solidFill>
            <a:schemeClr val="tx1"/>
          </a:solidFill>
          <a:ln/>
        </p:spPr>
      </p:sp>
      <p:sp>
        <p:nvSpPr>
          <p:cNvPr id="4" name="Text 2"/>
          <p:cNvSpPr txBox="1"/>
          <p:nvPr/>
        </p:nvSpPr>
        <p:spPr>
          <a:xfrm>
            <a:off x="640080" y="1051560"/>
            <a:ext cx="7863840" cy="1234440"/>
          </a:xfrm>
          <a:prstGeom prst="rect">
            <a:avLst/>
          </a:prstGeom>
          <a:noFill/>
          <a:ln/>
        </p:spPr>
        <p:txBody>
          <a:bodyPr wrap="square" lIns="0" tIns="0" rIns="0" bIns="0" rtlCol="0" anchor="ctr"/>
          <a:lstStyle/>
          <a:p>
            <a:pPr algn="ctr" indent="0" marL="0">
              <a:buNone/>
            </a:pPr>
            <a:r>
              <a:rPr lang="en-US" sz="2200" b="1" dirty="0">
                <a:solidFill>
                  <a:schemeClr val="accent3"/>
                </a:solidFill>
                <a:latin typeface="Cambria" pitchFamily="34" charset="0"/>
                <a:ea typeface="Cambria" pitchFamily="34" charset="-122"/>
                <a:cs typeface="Cambria" pitchFamily="34" charset="-120"/>
              </a:rPr>
              <a:t>P(Spam | word)</a:t>
            </a:r>
            <a:pPr algn="ctr" indent="0" marL="0">
              <a:buNone/>
            </a:pPr>
            <a:r>
              <a:rPr lang="en-US" sz="2200" dirty="0">
                <a:solidFill>
                  <a:schemeClr val="bg1"/>
                </a:solidFill>
                <a:latin typeface="Cambria" pitchFamily="34" charset="0"/>
                <a:ea typeface="Cambria" pitchFamily="34" charset="-122"/>
                <a:cs typeface="Cambria" pitchFamily="34" charset="-120"/>
              </a:rPr>
              <a:t>  =  </a:t>
            </a:r>
            <a:pPr algn="ctr" indent="0" marL="0">
              <a:buNone/>
            </a:pPr>
            <a:r>
              <a:rPr lang="en-US" sz="2200" b="1" dirty="0">
                <a:solidFill>
                  <a:srgbClr val="F08A80"/>
                </a:solidFill>
                <a:latin typeface="Cambria" pitchFamily="34" charset="0"/>
                <a:ea typeface="Cambria" pitchFamily="34" charset="-122"/>
                <a:cs typeface="Cambria" pitchFamily="34" charset="-120"/>
              </a:rPr>
              <a:t>P(word | Spam)</a:t>
            </a:r>
            <a:pPr algn="ctr" indent="0" marL="0">
              <a:buNone/>
            </a:pPr>
            <a:r>
              <a:rPr lang="en-US" sz="2200" dirty="0">
                <a:solidFill>
                  <a:schemeClr val="bg1"/>
                </a:solidFill>
                <a:latin typeface="Cambria" pitchFamily="34" charset="0"/>
                <a:ea typeface="Cambria" pitchFamily="34" charset="-122"/>
                <a:cs typeface="Cambria" pitchFamily="34" charset="-120"/>
              </a:rPr>
              <a:t> × </a:t>
            </a:r>
            <a:pPr algn="ctr" indent="0" marL="0">
              <a:buNone/>
            </a:pPr>
            <a:r>
              <a:rPr lang="en-US" sz="2200" b="1" dirty="0">
                <a:solidFill>
                  <a:srgbClr val="6FD3B5"/>
                </a:solidFill>
                <a:latin typeface="Cambria" pitchFamily="34" charset="0"/>
                <a:ea typeface="Cambria" pitchFamily="34" charset="-122"/>
                <a:cs typeface="Cambria" pitchFamily="34" charset="-120"/>
              </a:rPr>
              <a:t>P(Spam)</a:t>
            </a:r>
            <a:pPr algn="ctr" indent="0" marL="0">
              <a:buNone/>
            </a:pPr>
            <a:r>
              <a:rPr lang="en-US" sz="2200" dirty="0">
                <a:solidFill>
                  <a:schemeClr val="bg1"/>
                </a:solidFill>
                <a:latin typeface="Cambria" pitchFamily="34" charset="0"/>
                <a:ea typeface="Cambria" pitchFamily="34" charset="-122"/>
                <a:cs typeface="Cambria" pitchFamily="34" charset="-120"/>
              </a:rPr>
              <a:t>  ÷  </a:t>
            </a:r>
            <a:pPr algn="ctr" indent="0" marL="0">
              <a:buNone/>
            </a:pPr>
            <a:r>
              <a:rPr lang="en-US" sz="2200" b="1" dirty="0">
                <a:solidFill>
                  <a:srgbClr val="A9B8D6"/>
                </a:solidFill>
                <a:latin typeface="Cambria" pitchFamily="34" charset="0"/>
                <a:ea typeface="Cambria" pitchFamily="34" charset="-122"/>
                <a:cs typeface="Cambria" pitchFamily="34" charset="-120"/>
              </a:rPr>
              <a:t>P(word)</a:t>
            </a:r>
            <a:endParaRPr lang="en-US" sz="2200" dirty="0"/>
          </a:p>
        </p:txBody>
      </p:sp>
      <p:sp>
        <p:nvSpPr>
          <p:cNvPr id="5" name="Posterior card"/>
          <p:cNvSpPr/>
          <p:nvPr/>
        </p:nvSpPr>
        <p:spPr>
          <a:xfrm>
            <a:off x="457200" y="2514600"/>
            <a:ext cx="1874520" cy="1188720"/>
          </a:xfrm>
          <a:prstGeom prst="roundRect">
            <a:avLst>
              <a:gd name="adj" fmla="val 6154"/>
            </a:avLst>
          </a:prstGeom>
          <a:solidFill>
            <a:schemeClr val="bg2"/>
          </a:solidFill>
          <a:ln/>
        </p:spPr>
      </p:sp>
      <p:sp>
        <p:nvSpPr>
          <p:cNvPr id="6" name="Text 4"/>
          <p:cNvSpPr txBox="1"/>
          <p:nvPr/>
        </p:nvSpPr>
        <p:spPr>
          <a:xfrm>
            <a:off x="594360" y="2606040"/>
            <a:ext cx="1600200" cy="365760"/>
          </a:xfrm>
          <a:prstGeom prst="rect">
            <a:avLst/>
          </a:prstGeom>
          <a:noFill/>
          <a:ln/>
        </p:spPr>
        <p:txBody>
          <a:bodyPr wrap="square" lIns="0" tIns="0" rIns="0" bIns="0" rtlCol="0" anchor="ctr"/>
          <a:lstStyle/>
          <a:p>
            <a:pPr indent="0" marL="0">
              <a:buNone/>
            </a:pPr>
            <a:r>
              <a:rPr lang="en-US" sz="1700" b="1" dirty="0">
                <a:solidFill>
                  <a:schemeClr val="accent3"/>
                </a:solidFill>
                <a:latin typeface="Cambria" pitchFamily="34" charset="0"/>
                <a:ea typeface="Cambria" pitchFamily="34" charset="-122"/>
                <a:cs typeface="Cambria" pitchFamily="34" charset="-120"/>
              </a:rPr>
              <a:t>Posterior</a:t>
            </a:r>
            <a:endParaRPr lang="en-US" sz="1700" dirty="0"/>
          </a:p>
        </p:txBody>
      </p:sp>
      <p:sp>
        <p:nvSpPr>
          <p:cNvPr id="7" name="Text 5"/>
          <p:cNvSpPr txBox="1"/>
          <p:nvPr/>
        </p:nvSpPr>
        <p:spPr>
          <a:xfrm>
            <a:off x="594360" y="2971800"/>
            <a:ext cx="160020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Updated chance the message is spam</a:t>
            </a:r>
            <a:endParaRPr lang="en-US" sz="1400" dirty="0"/>
          </a:p>
        </p:txBody>
      </p:sp>
      <p:sp>
        <p:nvSpPr>
          <p:cNvPr id="8" name="Likelihood card"/>
          <p:cNvSpPr/>
          <p:nvPr/>
        </p:nvSpPr>
        <p:spPr>
          <a:xfrm>
            <a:off x="2560320" y="2514600"/>
            <a:ext cx="1874520" cy="1188720"/>
          </a:xfrm>
          <a:prstGeom prst="roundRect">
            <a:avLst>
              <a:gd name="adj" fmla="val 6154"/>
            </a:avLst>
          </a:prstGeom>
          <a:solidFill>
            <a:schemeClr val="bg2"/>
          </a:solidFill>
          <a:ln/>
        </p:spPr>
      </p:sp>
      <p:sp>
        <p:nvSpPr>
          <p:cNvPr id="9" name="Text 7"/>
          <p:cNvSpPr txBox="1"/>
          <p:nvPr/>
        </p:nvSpPr>
        <p:spPr>
          <a:xfrm>
            <a:off x="2697480" y="2606040"/>
            <a:ext cx="160020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Likelihood</a:t>
            </a:r>
            <a:endParaRPr lang="en-US" sz="1700" dirty="0"/>
          </a:p>
        </p:txBody>
      </p:sp>
      <p:sp>
        <p:nvSpPr>
          <p:cNvPr id="10" name="Text 8"/>
          <p:cNvSpPr txBox="1"/>
          <p:nvPr/>
        </p:nvSpPr>
        <p:spPr>
          <a:xfrm>
            <a:off x="2697480" y="2971800"/>
            <a:ext cx="160020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How often the word shows up in spam</a:t>
            </a:r>
            <a:endParaRPr lang="en-US" sz="1400" dirty="0"/>
          </a:p>
        </p:txBody>
      </p:sp>
      <p:sp>
        <p:nvSpPr>
          <p:cNvPr id="11" name="Prior card"/>
          <p:cNvSpPr/>
          <p:nvPr/>
        </p:nvSpPr>
        <p:spPr>
          <a:xfrm>
            <a:off x="4663440" y="2514600"/>
            <a:ext cx="1874520" cy="1188720"/>
          </a:xfrm>
          <a:prstGeom prst="roundRect">
            <a:avLst>
              <a:gd name="adj" fmla="val 6154"/>
            </a:avLst>
          </a:prstGeom>
          <a:solidFill>
            <a:schemeClr val="bg2"/>
          </a:solidFill>
          <a:ln/>
        </p:spPr>
      </p:sp>
      <p:sp>
        <p:nvSpPr>
          <p:cNvPr id="12" name="Text 10"/>
          <p:cNvSpPr txBox="1"/>
          <p:nvPr/>
        </p:nvSpPr>
        <p:spPr>
          <a:xfrm>
            <a:off x="4800600" y="2606040"/>
            <a:ext cx="1600200" cy="365760"/>
          </a:xfrm>
          <a:prstGeom prst="rect">
            <a:avLst/>
          </a:prstGeom>
          <a:noFill/>
          <a:ln/>
        </p:spPr>
        <p:txBody>
          <a:bodyPr wrap="square" lIns="0" tIns="0" rIns="0" bIns="0" rtlCol="0" anchor="ctr"/>
          <a:lstStyle/>
          <a:p>
            <a:pPr indent="0" marL="0">
              <a:buNone/>
            </a:pPr>
            <a:r>
              <a:rPr lang="en-US" sz="1700" b="1" dirty="0">
                <a:solidFill>
                  <a:schemeClr val="accent2"/>
                </a:solidFill>
                <a:latin typeface="Cambria" pitchFamily="34" charset="0"/>
                <a:ea typeface="Cambria" pitchFamily="34" charset="-122"/>
                <a:cs typeface="Cambria" pitchFamily="34" charset="-120"/>
              </a:rPr>
              <a:t>Prior</a:t>
            </a:r>
            <a:endParaRPr lang="en-US" sz="1700" dirty="0"/>
          </a:p>
        </p:txBody>
      </p:sp>
      <p:sp>
        <p:nvSpPr>
          <p:cNvPr id="13" name="Text 11"/>
          <p:cNvSpPr txBox="1"/>
          <p:nvPr/>
        </p:nvSpPr>
        <p:spPr>
          <a:xfrm>
            <a:off x="4800600" y="2971800"/>
            <a:ext cx="160020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How common spam is before reading</a:t>
            </a:r>
            <a:endParaRPr lang="en-US" sz="1400" dirty="0"/>
          </a:p>
        </p:txBody>
      </p:sp>
      <p:sp>
        <p:nvSpPr>
          <p:cNvPr id="14" name="Evidence card"/>
          <p:cNvSpPr/>
          <p:nvPr/>
        </p:nvSpPr>
        <p:spPr>
          <a:xfrm>
            <a:off x="6766560" y="2514600"/>
            <a:ext cx="1874520" cy="1188720"/>
          </a:xfrm>
          <a:prstGeom prst="roundRect">
            <a:avLst>
              <a:gd name="adj" fmla="val 6154"/>
            </a:avLst>
          </a:prstGeom>
          <a:solidFill>
            <a:schemeClr val="bg2"/>
          </a:solidFill>
          <a:ln/>
        </p:spPr>
      </p:sp>
      <p:sp>
        <p:nvSpPr>
          <p:cNvPr id="15" name="Text 13"/>
          <p:cNvSpPr txBox="1"/>
          <p:nvPr/>
        </p:nvSpPr>
        <p:spPr>
          <a:xfrm>
            <a:off x="6903720" y="2606040"/>
            <a:ext cx="1600200" cy="365760"/>
          </a:xfrm>
          <a:prstGeom prst="rect">
            <a:avLst/>
          </a:prstGeom>
          <a:noFill/>
          <a:ln/>
        </p:spPr>
        <p:txBody>
          <a:bodyPr wrap="square" lIns="0" tIns="0" rIns="0" bIns="0" rtlCol="0" anchor="ctr"/>
          <a:lstStyle/>
          <a:p>
            <a:pPr indent="0" marL="0">
              <a:buNone/>
            </a:pPr>
            <a:r>
              <a:rPr lang="en-US" sz="1700" b="1" dirty="0">
                <a:solidFill>
                  <a:schemeClr val="accent4"/>
                </a:solidFill>
                <a:latin typeface="Cambria" pitchFamily="34" charset="0"/>
                <a:ea typeface="Cambria" pitchFamily="34" charset="-122"/>
                <a:cs typeface="Cambria" pitchFamily="34" charset="-120"/>
              </a:rPr>
              <a:t>Evidence</a:t>
            </a:r>
            <a:endParaRPr lang="en-US" sz="1700" dirty="0"/>
          </a:p>
        </p:txBody>
      </p:sp>
      <p:sp>
        <p:nvSpPr>
          <p:cNvPr id="16" name="Text 14"/>
          <p:cNvSpPr txBox="1"/>
          <p:nvPr/>
        </p:nvSpPr>
        <p:spPr>
          <a:xfrm>
            <a:off x="6903720" y="2971800"/>
            <a:ext cx="160020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How often the word shows up anywhere</a:t>
            </a:r>
            <a:endParaRPr lang="en-US" sz="1400" dirty="0"/>
          </a:p>
        </p:txBody>
      </p:sp>
      <p:sp>
        <p:nvSpPr>
          <p:cNvPr id="17" name="Text 15"/>
          <p:cNvSpPr txBox="1"/>
          <p:nvPr/>
        </p:nvSpPr>
        <p:spPr>
          <a:xfrm>
            <a:off x="457200" y="3931920"/>
            <a:ext cx="8229600" cy="5943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Naive Bayes: </a:t>
            </a:r>
            <a:pPr indent="0" marL="0">
              <a:buNone/>
            </a:pPr>
            <a:r>
              <a:rPr lang="en-US" sz="1400" dirty="0">
                <a:solidFill>
                  <a:schemeClr val="tx2"/>
                </a:solidFill>
                <a:latin typeface="Calibri" pitchFamily="34" charset="0"/>
                <a:ea typeface="Calibri" pitchFamily="34" charset="-122"/>
                <a:cs typeface="Calibri" pitchFamily="34" charset="-120"/>
              </a:rPr>
              <a:t>repeat for every word, assume words are independent, and add log-probabilities so tiny numbers don't round to zero (Sahami et al., 1998).</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Worked Example: The Word “free”</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5,574 real text messages from the SMS Spam Collection (Almeida et al., 2011)</a:t>
            </a:r>
            <a:endParaRPr lang="en-US" sz="1500" dirty="0"/>
          </a:p>
        </p:txBody>
      </p:sp>
      <p:sp>
        <p:nvSpPr>
          <p:cNvPr id="4" name="Prior card"/>
          <p:cNvSpPr/>
          <p:nvPr/>
        </p:nvSpPr>
        <p:spPr>
          <a:xfrm>
            <a:off x="457200" y="1508760"/>
            <a:ext cx="2377440" cy="2011680"/>
          </a:xfrm>
          <a:prstGeom prst="roundRect">
            <a:avLst>
              <a:gd name="adj" fmla="val 3636"/>
            </a:avLst>
          </a:prstGeom>
          <a:solidFill>
            <a:schemeClr val="bg2"/>
          </a:solidFill>
          <a:ln/>
        </p:spPr>
      </p:sp>
      <p:sp>
        <p:nvSpPr>
          <p:cNvPr id="5" name="Text 3"/>
          <p:cNvSpPr txBox="1"/>
          <p:nvPr/>
        </p:nvSpPr>
        <p:spPr>
          <a:xfrm>
            <a:off x="457200" y="1691640"/>
            <a:ext cx="2377440" cy="868680"/>
          </a:xfrm>
          <a:prstGeom prst="rect">
            <a:avLst/>
          </a:prstGeom>
          <a:noFill/>
          <a:ln/>
        </p:spPr>
        <p:txBody>
          <a:bodyPr wrap="square" lIns="0" tIns="0" rIns="0" bIns="0" rtlCol="0" anchor="ctr"/>
          <a:lstStyle/>
          <a:p>
            <a:pPr algn="ctr" indent="0" marL="0">
              <a:buNone/>
            </a:pPr>
            <a:r>
              <a:rPr lang="en-US" sz="4800" b="1" dirty="0">
                <a:solidFill>
                  <a:schemeClr val="accent2"/>
                </a:solidFill>
                <a:latin typeface="Cambria" pitchFamily="34" charset="0"/>
                <a:ea typeface="Cambria" pitchFamily="34" charset="-122"/>
                <a:cs typeface="Cambria" pitchFamily="34" charset="-120"/>
              </a:rPr>
              <a:t>13.4%</a:t>
            </a:r>
            <a:endParaRPr lang="en-US" sz="4800" dirty="0"/>
          </a:p>
        </p:txBody>
      </p:sp>
      <p:sp>
        <p:nvSpPr>
          <p:cNvPr id="6" name="Text 4"/>
          <p:cNvSpPr txBox="1"/>
          <p:nvPr/>
        </p:nvSpPr>
        <p:spPr>
          <a:xfrm>
            <a:off x="640080" y="2606040"/>
            <a:ext cx="2011680" cy="731520"/>
          </a:xfrm>
          <a:prstGeom prst="rect">
            <a:avLst/>
          </a:prstGeom>
          <a:noFill/>
          <a:ln/>
        </p:spPr>
        <p:txBody>
          <a:bodyPr wrap="square" lIns="0" tIns="0" rIns="0" bIns="0" rtlCol="0" anchor="ctr"/>
          <a:lstStyle/>
          <a:p>
            <a:pPr algn="ctr" indent="0" marL="0">
              <a:buNone/>
            </a:pPr>
            <a:r>
              <a:rPr lang="en-US" sz="1400" dirty="0">
                <a:solidFill>
                  <a:schemeClr val="tx2"/>
                </a:solidFill>
                <a:latin typeface="Calibri" pitchFamily="34" charset="0"/>
                <a:ea typeface="Calibri" pitchFamily="34" charset="-122"/>
                <a:cs typeface="Calibri" pitchFamily="34" charset="-120"/>
              </a:rPr>
              <a:t>Before: chance any message is spam</a:t>
            </a:r>
            <a:endParaRPr lang="en-US" sz="1400" dirty="0"/>
          </a:p>
        </p:txBody>
      </p:sp>
      <p:sp>
        <p:nvSpPr>
          <p:cNvPr id="7" name="Arrow"/>
          <p:cNvSpPr/>
          <p:nvPr/>
        </p:nvSpPr>
        <p:spPr>
          <a:xfrm>
            <a:off x="3017520" y="2286000"/>
            <a:ext cx="640080" cy="457200"/>
          </a:xfrm>
          <a:prstGeom prst="rightArrow">
            <a:avLst/>
          </a:prstGeom>
          <a:solidFill>
            <a:srgbClr val="B9BFCC"/>
          </a:solidFill>
          <a:ln/>
        </p:spPr>
      </p:sp>
      <p:sp>
        <p:nvSpPr>
          <p:cNvPr id="8" name="Posterior card"/>
          <p:cNvSpPr/>
          <p:nvPr/>
        </p:nvSpPr>
        <p:spPr>
          <a:xfrm>
            <a:off x="3840480" y="1508760"/>
            <a:ext cx="2377440" cy="2011680"/>
          </a:xfrm>
          <a:prstGeom prst="roundRect">
            <a:avLst>
              <a:gd name="adj" fmla="val 3636"/>
            </a:avLst>
          </a:prstGeom>
          <a:solidFill>
            <a:schemeClr val="tx1"/>
          </a:solidFill>
          <a:ln/>
        </p:spPr>
      </p:sp>
      <p:sp>
        <p:nvSpPr>
          <p:cNvPr id="9" name="Text 7"/>
          <p:cNvSpPr txBox="1"/>
          <p:nvPr/>
        </p:nvSpPr>
        <p:spPr>
          <a:xfrm>
            <a:off x="3840480" y="1691640"/>
            <a:ext cx="2377440" cy="868680"/>
          </a:xfrm>
          <a:prstGeom prst="rect">
            <a:avLst/>
          </a:prstGeom>
          <a:noFill/>
          <a:ln/>
        </p:spPr>
        <p:txBody>
          <a:bodyPr wrap="square" lIns="0" tIns="0" rIns="0" bIns="0" rtlCol="0" anchor="ctr"/>
          <a:lstStyle/>
          <a:p>
            <a:pPr algn="ctr" indent="0" marL="0">
              <a:buNone/>
            </a:pPr>
            <a:r>
              <a:rPr lang="en-US" sz="4800" b="1" dirty="0">
                <a:solidFill>
                  <a:srgbClr val="F08A80"/>
                </a:solidFill>
                <a:latin typeface="Cambria" pitchFamily="34" charset="0"/>
                <a:ea typeface="Cambria" pitchFamily="34" charset="-122"/>
                <a:cs typeface="Cambria" pitchFamily="34" charset="-120"/>
              </a:rPr>
              <a:t>74.2%</a:t>
            </a:r>
            <a:endParaRPr lang="en-US" sz="4800" dirty="0"/>
          </a:p>
        </p:txBody>
      </p:sp>
      <p:sp>
        <p:nvSpPr>
          <p:cNvPr id="10" name="Text 8"/>
          <p:cNvSpPr txBox="1"/>
          <p:nvPr/>
        </p:nvSpPr>
        <p:spPr>
          <a:xfrm>
            <a:off x="4023360" y="2606040"/>
            <a:ext cx="2011680" cy="731520"/>
          </a:xfrm>
          <a:prstGeom prst="rect">
            <a:avLst/>
          </a:prstGeom>
          <a:noFill/>
          <a:ln/>
        </p:spPr>
        <p:txBody>
          <a:bodyPr wrap="square" lIns="0" tIns="0" rIns="0" bIns="0" rtlCol="0" anchor="ctr"/>
          <a:lstStyle/>
          <a:p>
            <a:pPr algn="ctr" indent="0" marL="0">
              <a:buNone/>
            </a:pPr>
            <a:r>
              <a:rPr lang="en-US" sz="1400" dirty="0">
                <a:solidFill>
                  <a:schemeClr val="bg2"/>
                </a:solidFill>
                <a:latin typeface="Calibri" pitchFamily="34" charset="0"/>
                <a:ea typeface="Calibri" pitchFamily="34" charset="-122"/>
                <a:cs typeface="Calibri" pitchFamily="34" charset="-120"/>
              </a:rPr>
              <a:t>After: chance it's spam if it says “free”</a:t>
            </a:r>
            <a:endParaRPr lang="en-US" sz="1400" dirty="0"/>
          </a:p>
        </p:txBody>
      </p:sp>
      <p:sp>
        <p:nvSpPr>
          <p:cNvPr id="11" name="Text 9"/>
          <p:cNvSpPr txBox="1"/>
          <p:nvPr/>
        </p:nvSpPr>
        <p:spPr>
          <a:xfrm>
            <a:off x="6492240" y="1600200"/>
            <a:ext cx="2194560" cy="1828800"/>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P(free | Spam) = 0.228</a:t>
            </a:r>
            <a:endParaRPr lang="en-US" sz="15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P(Spam) = 0.134</a:t>
            </a:r>
            <a:endParaRPr lang="en-US" sz="15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P(free) = 0.041</a:t>
            </a:r>
            <a:endParaRPr lang="en-US" sz="1500" dirty="0"/>
          </a:p>
          <a:p>
            <a:pPr indent="0" marL="0">
              <a:spcAft>
                <a:spcPts val="400"/>
              </a:spcAft>
              <a:buNone/>
            </a:pPr>
            <a:r>
              <a:rPr lang="en-US" sz="1500" b="1" dirty="0">
                <a:solidFill>
                  <a:schemeClr val="tx1"/>
                </a:solidFill>
                <a:latin typeface="Calibri" pitchFamily="34" charset="0"/>
                <a:ea typeface="Calibri" pitchFamily="34" charset="-122"/>
                <a:cs typeface="Calibri" pitchFamily="34" charset="-120"/>
              </a:rPr>
              <a:t>0.228 × 0.134 ÷ 0.041</a:t>
            </a:r>
            <a:endParaRPr lang="en-US" sz="1500" dirty="0"/>
          </a:p>
          <a:p>
            <a:pPr indent="0" marL="0">
              <a:spcAft>
                <a:spcPts val="400"/>
              </a:spcAft>
              <a:buNone/>
            </a:pPr>
            <a:r>
              <a:rPr lang="en-US" sz="1500" b="1" dirty="0">
                <a:solidFill>
                  <a:schemeClr val="accent1"/>
                </a:solidFill>
                <a:latin typeface="Calibri" pitchFamily="34" charset="0"/>
                <a:ea typeface="Calibri" pitchFamily="34" charset="-122"/>
                <a:cs typeface="Calibri" pitchFamily="34" charset="-120"/>
              </a:rPr>
              <a:t>= 0.742</a:t>
            </a:r>
            <a:endParaRPr lang="en-US" sz="1500" dirty="0"/>
          </a:p>
        </p:txBody>
      </p:sp>
      <p:sp>
        <p:nvSpPr>
          <p:cNvPr id="12" name="Text 10"/>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500" i="1" dirty="0">
                <a:solidFill>
                  <a:schemeClr val="tx2"/>
                </a:solidFill>
                <a:latin typeface="Calibri" pitchFamily="34" charset="0"/>
                <a:ea typeface="Calibri" pitchFamily="34" charset="-122"/>
                <a:cs typeface="Calibri" pitchFamily="34" charset="-120"/>
              </a:rPr>
              <a:t>Counting the messages directly gives the same 74.2%, which confirms the formula.</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Two Real-World Examples</a:t>
            </a:r>
            <a:endParaRPr lang="en-US" sz="3000" dirty="0"/>
          </a:p>
        </p:txBody>
      </p:sp>
      <p:sp>
        <p:nvSpPr>
          <p:cNvPr id="3" name="Spam Filtering card"/>
          <p:cNvSpPr/>
          <p:nvPr/>
        </p:nvSpPr>
        <p:spPr>
          <a:xfrm>
            <a:off x="457200" y="1097280"/>
            <a:ext cx="4023360" cy="3108960"/>
          </a:xfrm>
          <a:prstGeom prst="roundRect">
            <a:avLst>
              <a:gd name="adj" fmla="val 2353"/>
            </a:avLst>
          </a:prstGeom>
          <a:solidFill>
            <a:schemeClr val="bg2"/>
          </a:solidFill>
          <a:ln/>
        </p:spPr>
      </p:sp>
      <p:sp>
        <p:nvSpPr>
          <p:cNvPr id="4" name="Spam Filtering circle"/>
          <p:cNvSpPr/>
          <p:nvPr/>
        </p:nvSpPr>
        <p:spPr>
          <a:xfrm>
            <a:off x="685800" y="1280160"/>
            <a:ext cx="548640" cy="548640"/>
          </a:xfrm>
          <a:prstGeom prst="ellipse">
            <a:avLst/>
          </a:prstGeom>
          <a:solidFill>
            <a:schemeClr val="accent1"/>
          </a:solidFill>
          <a:ln/>
        </p:spPr>
      </p:sp>
      <p:pic>
        <p:nvPicPr>
          <p:cNvPr id="5" name="Spam Filtering icon" descr="preencoded.png">    </p:cNvPr>
          <p:cNvPicPr>
            <a:picLocks noChangeAspect="1"/>
          </p:cNvPicPr>
          <p:nvPr/>
        </p:nvPicPr>
        <p:blipFill>
          <a:blip r:embed="rId1"/>
          <a:stretch>
            <a:fillRect/>
          </a:stretch>
        </p:blipFill>
        <p:spPr>
          <a:xfrm>
            <a:off x="822960" y="1417320"/>
            <a:ext cx="274320" cy="274320"/>
          </a:xfrm>
          <a:prstGeom prst="rect">
            <a:avLst/>
          </a:prstGeom>
        </p:spPr>
      </p:pic>
      <p:sp>
        <p:nvSpPr>
          <p:cNvPr id="6" name="Text 3"/>
          <p:cNvSpPr txBox="1"/>
          <p:nvPr/>
        </p:nvSpPr>
        <p:spPr>
          <a:xfrm>
            <a:off x="1371600" y="1280160"/>
            <a:ext cx="292608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Spam Filtering</a:t>
            </a:r>
            <a:endParaRPr lang="en-US" sz="2000" dirty="0"/>
          </a:p>
        </p:txBody>
      </p:sp>
      <p:sp>
        <p:nvSpPr>
          <p:cNvPr id="7" name="Text 4"/>
          <p:cNvSpPr txBox="1"/>
          <p:nvPr/>
        </p:nvSpPr>
        <p:spPr>
          <a:xfrm>
            <a:off x="731520" y="2011680"/>
            <a:ext cx="3566160" cy="1417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Evidence: the words in a message</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Prior: about 13% of texts are spam</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One word, “free,” lifts the chance to 74%</a:t>
            </a:r>
            <a:endParaRPr lang="en-US" sz="1500" dirty="0"/>
          </a:p>
        </p:txBody>
      </p:sp>
      <p:sp>
        <p:nvSpPr>
          <p:cNvPr id="8" name="Text 5"/>
          <p:cNvSpPr txBox="1"/>
          <p:nvPr/>
        </p:nvSpPr>
        <p:spPr>
          <a:xfrm>
            <a:off x="731520" y="3429000"/>
            <a:ext cx="3566160" cy="640080"/>
          </a:xfrm>
          <a:prstGeom prst="rect">
            <a:avLst/>
          </a:prstGeom>
          <a:noFill/>
          <a:ln/>
        </p:spPr>
        <p:txBody>
          <a:bodyPr wrap="square" lIns="0" tIns="0" rIns="0" bIns="0" rtlCol="0" anchor="t"/>
          <a:lstStyle/>
          <a:p>
            <a:pPr indent="0" marL="0">
              <a:buNone/>
            </a:pPr>
            <a:r>
              <a:rPr lang="en-US" sz="1300" i="1" dirty="0">
                <a:solidFill>
                  <a:schemeClr val="tx2"/>
                </a:solidFill>
                <a:latin typeface="Calibri" pitchFamily="34" charset="0"/>
                <a:ea typeface="Calibri" pitchFamily="34" charset="-122"/>
                <a:cs typeface="Calibri" pitchFamily="34" charset="-120"/>
              </a:rPr>
              <a:t>Filters catch spam without a human reading every message</a:t>
            </a:r>
            <a:endParaRPr lang="en-US" sz="1300" dirty="0"/>
          </a:p>
        </p:txBody>
      </p:sp>
      <p:sp>
        <p:nvSpPr>
          <p:cNvPr id="9" name="Medical Diagnosis card"/>
          <p:cNvSpPr/>
          <p:nvPr/>
        </p:nvSpPr>
        <p:spPr>
          <a:xfrm>
            <a:off x="4663440" y="1097280"/>
            <a:ext cx="4023360" cy="3108960"/>
          </a:xfrm>
          <a:prstGeom prst="roundRect">
            <a:avLst>
              <a:gd name="adj" fmla="val 2353"/>
            </a:avLst>
          </a:prstGeom>
          <a:solidFill>
            <a:schemeClr val="bg2"/>
          </a:solidFill>
          <a:ln/>
        </p:spPr>
      </p:sp>
      <p:sp>
        <p:nvSpPr>
          <p:cNvPr id="10" name="Medical Diagnosis circle"/>
          <p:cNvSpPr/>
          <p:nvPr/>
        </p:nvSpPr>
        <p:spPr>
          <a:xfrm>
            <a:off x="4892040" y="1280160"/>
            <a:ext cx="548640" cy="548640"/>
          </a:xfrm>
          <a:prstGeom prst="ellipse">
            <a:avLst/>
          </a:prstGeom>
          <a:solidFill>
            <a:schemeClr val="accent2"/>
          </a:solidFill>
          <a:ln/>
        </p:spPr>
      </p:sp>
      <p:pic>
        <p:nvPicPr>
          <p:cNvPr id="11" name="Medical Diagnosis icon" descr="preencoded.png">    </p:cNvPr>
          <p:cNvPicPr>
            <a:picLocks noChangeAspect="1"/>
          </p:cNvPicPr>
          <p:nvPr/>
        </p:nvPicPr>
        <p:blipFill>
          <a:blip r:embed="rId2"/>
          <a:stretch>
            <a:fillRect/>
          </a:stretch>
        </p:blipFill>
        <p:spPr>
          <a:xfrm>
            <a:off x="5029200" y="1417320"/>
            <a:ext cx="274320" cy="274320"/>
          </a:xfrm>
          <a:prstGeom prst="rect">
            <a:avLst/>
          </a:prstGeom>
        </p:spPr>
      </p:pic>
      <p:sp>
        <p:nvSpPr>
          <p:cNvPr id="12" name="Text 8"/>
          <p:cNvSpPr txBox="1"/>
          <p:nvPr/>
        </p:nvSpPr>
        <p:spPr>
          <a:xfrm>
            <a:off x="5577840" y="1280160"/>
            <a:ext cx="292608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Medical Diagnosis</a:t>
            </a:r>
            <a:endParaRPr lang="en-US" sz="2000" dirty="0"/>
          </a:p>
        </p:txBody>
      </p:sp>
      <p:sp>
        <p:nvSpPr>
          <p:cNvPr id="13" name="Text 9"/>
          <p:cNvSpPr txBox="1"/>
          <p:nvPr/>
        </p:nvSpPr>
        <p:spPr>
          <a:xfrm>
            <a:off x="4937760" y="2011680"/>
            <a:ext cx="3566160" cy="1417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Disease rate: 1%; test catches 80%</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False alarm rate: 9.6%</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 positive test means only about an 8% chance of disease</a:t>
            </a:r>
            <a:endParaRPr lang="en-US" sz="1500" dirty="0"/>
          </a:p>
        </p:txBody>
      </p:sp>
      <p:sp>
        <p:nvSpPr>
          <p:cNvPr id="14" name="Text 10"/>
          <p:cNvSpPr txBox="1"/>
          <p:nvPr/>
        </p:nvSpPr>
        <p:spPr>
          <a:xfrm>
            <a:off x="4937760" y="3429000"/>
            <a:ext cx="3566160" cy="640080"/>
          </a:xfrm>
          <a:prstGeom prst="rect">
            <a:avLst/>
          </a:prstGeom>
          <a:noFill/>
          <a:ln/>
        </p:spPr>
        <p:txBody>
          <a:bodyPr wrap="square" lIns="0" tIns="0" rIns="0" bIns="0" rtlCol="0" anchor="t"/>
          <a:lstStyle/>
          <a:p>
            <a:pPr indent="0" marL="0">
              <a:buNone/>
            </a:pPr>
            <a:r>
              <a:rPr lang="en-US" sz="1300" i="1" dirty="0">
                <a:solidFill>
                  <a:schemeClr val="tx2"/>
                </a:solidFill>
                <a:latin typeface="Calibri" pitchFamily="34" charset="0"/>
                <a:ea typeface="Calibri" pitchFamily="34" charset="-122"/>
                <a:cs typeface="Calibri" pitchFamily="34" charset="-120"/>
              </a:rPr>
              <a:t>Rare conditions need the prior, or AI tools overreact (Gigerenzer &amp; Hoffrage, 1995)</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Efficient, Accurate, and Transparent</a:t>
            </a:r>
            <a:endParaRPr lang="en-US" sz="3000" dirty="0"/>
          </a:p>
        </p:txBody>
      </p:sp>
      <p:sp>
        <p:nvSpPr>
          <p:cNvPr id="3" name="Stat 0"/>
          <p:cNvSpPr/>
          <p:nvPr/>
        </p:nvSpPr>
        <p:spPr>
          <a:xfrm>
            <a:off x="457200" y="1051560"/>
            <a:ext cx="3017520" cy="1051560"/>
          </a:xfrm>
          <a:prstGeom prst="roundRect">
            <a:avLst>
              <a:gd name="adj" fmla="val 6957"/>
            </a:avLst>
          </a:prstGeom>
          <a:solidFill>
            <a:schemeClr val="bg2"/>
          </a:solidFill>
          <a:ln/>
        </p:spPr>
      </p:sp>
      <p:sp>
        <p:nvSpPr>
          <p:cNvPr id="4" name="Text 2"/>
          <p:cNvSpPr txBox="1"/>
          <p:nvPr/>
        </p:nvSpPr>
        <p:spPr>
          <a:xfrm>
            <a:off x="640080" y="1124712"/>
            <a:ext cx="2651760" cy="548640"/>
          </a:xfrm>
          <a:prstGeom prst="rect">
            <a:avLst/>
          </a:prstGeom>
          <a:noFill/>
          <a:ln/>
        </p:spPr>
        <p:txBody>
          <a:bodyPr wrap="square" lIns="0" tIns="0" rIns="0" bIns="0" rtlCol="0" anchor="ctr"/>
          <a:lstStyle/>
          <a:p>
            <a:pPr indent="0" marL="0">
              <a:buNone/>
            </a:pPr>
            <a:r>
              <a:rPr lang="en-US" sz="3000" b="1" dirty="0">
                <a:solidFill>
                  <a:schemeClr val="accent6"/>
                </a:solidFill>
                <a:latin typeface="Cambria" pitchFamily="34" charset="0"/>
                <a:ea typeface="Cambria" pitchFamily="34" charset="-122"/>
                <a:cs typeface="Cambria" pitchFamily="34" charset="-120"/>
              </a:rPr>
              <a:t>~1 ms</a:t>
            </a:r>
            <a:endParaRPr lang="en-US" sz="3000" dirty="0"/>
          </a:p>
        </p:txBody>
      </p:sp>
      <p:sp>
        <p:nvSpPr>
          <p:cNvPr id="5" name="Text 3"/>
          <p:cNvSpPr txBox="1"/>
          <p:nvPr/>
        </p:nvSpPr>
        <p:spPr>
          <a:xfrm>
            <a:off x="640080" y="1673352"/>
            <a:ext cx="2651760"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to train on 4,459 messages</a:t>
            </a:r>
            <a:endParaRPr lang="en-US" sz="1400" dirty="0"/>
          </a:p>
        </p:txBody>
      </p:sp>
      <p:sp>
        <p:nvSpPr>
          <p:cNvPr id="6" name="Stat 1"/>
          <p:cNvSpPr/>
          <p:nvPr/>
        </p:nvSpPr>
        <p:spPr>
          <a:xfrm>
            <a:off x="457200" y="2240280"/>
            <a:ext cx="3017520" cy="1051560"/>
          </a:xfrm>
          <a:prstGeom prst="roundRect">
            <a:avLst>
              <a:gd name="adj" fmla="val 6957"/>
            </a:avLst>
          </a:prstGeom>
          <a:solidFill>
            <a:schemeClr val="bg2"/>
          </a:solidFill>
          <a:ln/>
        </p:spPr>
      </p:sp>
      <p:sp>
        <p:nvSpPr>
          <p:cNvPr id="7" name="Text 5"/>
          <p:cNvSpPr txBox="1"/>
          <p:nvPr/>
        </p:nvSpPr>
        <p:spPr>
          <a:xfrm>
            <a:off x="640080" y="2313432"/>
            <a:ext cx="265176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98.5%</a:t>
            </a:r>
            <a:endParaRPr lang="en-US" sz="3000" dirty="0"/>
          </a:p>
        </p:txBody>
      </p:sp>
      <p:sp>
        <p:nvSpPr>
          <p:cNvPr id="8" name="Text 6"/>
          <p:cNvSpPr txBox="1"/>
          <p:nvPr/>
        </p:nvSpPr>
        <p:spPr>
          <a:xfrm>
            <a:off x="640080" y="2862072"/>
            <a:ext cx="2651760"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test accuracy</a:t>
            </a:r>
            <a:endParaRPr lang="en-US" sz="1400" dirty="0"/>
          </a:p>
        </p:txBody>
      </p:sp>
      <p:sp>
        <p:nvSpPr>
          <p:cNvPr id="9" name="Stat 2"/>
          <p:cNvSpPr/>
          <p:nvPr/>
        </p:nvSpPr>
        <p:spPr>
          <a:xfrm>
            <a:off x="457200" y="3429000"/>
            <a:ext cx="3017520" cy="1051560"/>
          </a:xfrm>
          <a:prstGeom prst="roundRect">
            <a:avLst>
              <a:gd name="adj" fmla="val 6957"/>
            </a:avLst>
          </a:prstGeom>
          <a:solidFill>
            <a:schemeClr val="bg2"/>
          </a:solidFill>
          <a:ln/>
        </p:spPr>
      </p:sp>
      <p:sp>
        <p:nvSpPr>
          <p:cNvPr id="10" name="Text 8"/>
          <p:cNvSpPr txBox="1"/>
          <p:nvPr/>
        </p:nvSpPr>
        <p:spPr>
          <a:xfrm>
            <a:off x="640080" y="3502152"/>
            <a:ext cx="265176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 of 966</a:t>
            </a:r>
            <a:endParaRPr lang="en-US" sz="3000" dirty="0"/>
          </a:p>
        </p:txBody>
      </p:sp>
      <p:sp>
        <p:nvSpPr>
          <p:cNvPr id="11" name="Text 9"/>
          <p:cNvSpPr txBox="1"/>
          <p:nvPr/>
        </p:nvSpPr>
        <p:spPr>
          <a:xfrm>
            <a:off x="640080" y="4050792"/>
            <a:ext cx="2651760"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normal texts wrongly flagged</a:t>
            </a:r>
            <a:endParaRPr lang="en-US" sz="1400" dirty="0"/>
          </a:p>
        </p:txBody>
      </p:sp>
      <p:graphicFrame>
        <p:nvGraphicFramePr>
          <p:cNvPr id="12" name="Word ratio chart" descr=""/>
          <p:cNvGraphicFramePr/>
          <p:nvPr/>
        </p:nvGraphicFramePr>
        <p:xfrm>
          <a:off x="3749040" y="100584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8001000" y="3997234"/>
            <a:ext cx="640080" cy="274320"/>
          </a:xfrm>
          <a:prstGeom prst="rect">
            <a:avLst/>
          </a:prstGeom>
          <a:noFill/>
          <a:ln/>
        </p:spPr>
        <p:txBody>
          <a:bodyPr wrap="square" lIns="0" tIns="0" rIns="0" bIns="0" rtlCol="0" anchor="ctr"/>
          <a:lstStyle/>
          <a:p>
            <a:pPr algn="r" indent="0" marL="0">
              <a:buNone/>
            </a:pPr>
            <a:r>
              <a:rPr lang="en-US" sz="1200" b="1" dirty="0">
                <a:solidFill>
                  <a:schemeClr val="accent2"/>
                </a:solidFill>
                <a:latin typeface="Calibri" pitchFamily="34" charset="0"/>
                <a:ea typeface="Calibri" pitchFamily="34" charset="-122"/>
                <a:cs typeface="Calibri" pitchFamily="34" charset="-120"/>
              </a:rPr>
              <a:t>0.02×</a:t>
            </a:r>
            <a:endParaRPr lang="en-US" sz="1200" dirty="0"/>
          </a:p>
        </p:txBody>
      </p:sp>
      <p:sp>
        <p:nvSpPr>
          <p:cNvPr id="14" name="Text 11"/>
          <p:cNvSpPr txBox="1"/>
          <p:nvPr/>
        </p:nvSpPr>
        <p:spPr>
          <a:xfrm>
            <a:off x="8001000" y="3579223"/>
            <a:ext cx="640080" cy="274320"/>
          </a:xfrm>
          <a:prstGeom prst="rect">
            <a:avLst/>
          </a:prstGeom>
          <a:noFill/>
          <a:ln/>
        </p:spPr>
        <p:txBody>
          <a:bodyPr wrap="square" lIns="0" tIns="0" rIns="0" bIns="0" rtlCol="0" anchor="ctr"/>
          <a:lstStyle/>
          <a:p>
            <a:pPr algn="r" indent="0" marL="0">
              <a:buNone/>
            </a:pPr>
            <a:r>
              <a:rPr lang="en-US" sz="1200" b="1" dirty="0">
                <a:solidFill>
                  <a:schemeClr val="accent1"/>
                </a:solidFill>
                <a:latin typeface="Calibri" pitchFamily="34" charset="0"/>
                <a:ea typeface="Calibri" pitchFamily="34" charset="-122"/>
                <a:cs typeface="Calibri" pitchFamily="34" charset="-120"/>
              </a:rPr>
              <a:t>4×</a:t>
            </a:r>
            <a:endParaRPr lang="en-US" sz="1200" dirty="0"/>
          </a:p>
        </p:txBody>
      </p:sp>
      <p:sp>
        <p:nvSpPr>
          <p:cNvPr id="15" name="Text 12"/>
          <p:cNvSpPr txBox="1"/>
          <p:nvPr/>
        </p:nvSpPr>
        <p:spPr>
          <a:xfrm>
            <a:off x="8001000" y="3161211"/>
            <a:ext cx="640080" cy="274320"/>
          </a:xfrm>
          <a:prstGeom prst="rect">
            <a:avLst/>
          </a:prstGeom>
          <a:noFill/>
          <a:ln/>
        </p:spPr>
        <p:txBody>
          <a:bodyPr wrap="square" lIns="0" tIns="0" rIns="0" bIns="0" rtlCol="0" anchor="ctr"/>
          <a:lstStyle/>
          <a:p>
            <a:pPr algn="r" indent="0" marL="0">
              <a:buNone/>
            </a:pPr>
            <a:r>
              <a:rPr lang="en-US" sz="1200" b="1" dirty="0">
                <a:solidFill>
                  <a:schemeClr val="accent1"/>
                </a:solidFill>
                <a:latin typeface="Calibri" pitchFamily="34" charset="0"/>
                <a:ea typeface="Calibri" pitchFamily="34" charset="-122"/>
                <a:cs typeface="Calibri" pitchFamily="34" charset="-120"/>
              </a:rPr>
              <a:t>10×</a:t>
            </a:r>
            <a:endParaRPr lang="en-US" sz="1200" dirty="0"/>
          </a:p>
        </p:txBody>
      </p:sp>
      <p:sp>
        <p:nvSpPr>
          <p:cNvPr id="16" name="Text 13"/>
          <p:cNvSpPr txBox="1"/>
          <p:nvPr/>
        </p:nvSpPr>
        <p:spPr>
          <a:xfrm>
            <a:off x="8001000" y="2743200"/>
            <a:ext cx="640080" cy="274320"/>
          </a:xfrm>
          <a:prstGeom prst="rect">
            <a:avLst/>
          </a:prstGeom>
          <a:noFill/>
          <a:ln/>
        </p:spPr>
        <p:txBody>
          <a:bodyPr wrap="square" lIns="0" tIns="0" rIns="0" bIns="0" rtlCol="0" anchor="ctr"/>
          <a:lstStyle/>
          <a:p>
            <a:pPr algn="r" indent="0" marL="0">
              <a:buNone/>
            </a:pPr>
            <a:r>
              <a:rPr lang="en-US" sz="1200" b="1" dirty="0">
                <a:solidFill>
                  <a:schemeClr val="accent1"/>
                </a:solidFill>
                <a:latin typeface="Calibri" pitchFamily="34" charset="0"/>
                <a:ea typeface="Calibri" pitchFamily="34" charset="-122"/>
                <a:cs typeface="Calibri" pitchFamily="34" charset="-120"/>
              </a:rPr>
              <a:t>19×</a:t>
            </a:r>
            <a:endParaRPr lang="en-US" sz="1200" dirty="0"/>
          </a:p>
        </p:txBody>
      </p:sp>
      <p:sp>
        <p:nvSpPr>
          <p:cNvPr id="17" name="Text 14"/>
          <p:cNvSpPr txBox="1"/>
          <p:nvPr/>
        </p:nvSpPr>
        <p:spPr>
          <a:xfrm>
            <a:off x="8001000" y="2325189"/>
            <a:ext cx="640080" cy="274320"/>
          </a:xfrm>
          <a:prstGeom prst="rect">
            <a:avLst/>
          </a:prstGeom>
          <a:noFill/>
          <a:ln/>
        </p:spPr>
        <p:txBody>
          <a:bodyPr wrap="square" lIns="0" tIns="0" rIns="0" bIns="0" rtlCol="0" anchor="ctr"/>
          <a:lstStyle/>
          <a:p>
            <a:pPr algn="r" indent="0" marL="0">
              <a:buNone/>
            </a:pPr>
            <a:r>
              <a:rPr lang="en-US" sz="1200" b="1" dirty="0">
                <a:solidFill>
                  <a:schemeClr val="accent1"/>
                </a:solidFill>
                <a:latin typeface="Calibri" pitchFamily="34" charset="0"/>
                <a:ea typeface="Calibri" pitchFamily="34" charset="-122"/>
                <a:cs typeface="Calibri" pitchFamily="34" charset="-120"/>
              </a:rPr>
              <a:t>107×</a:t>
            </a:r>
            <a:endParaRPr lang="en-US" sz="1200" dirty="0"/>
          </a:p>
        </p:txBody>
      </p:sp>
      <p:sp>
        <p:nvSpPr>
          <p:cNvPr id="18" name="Text 15"/>
          <p:cNvSpPr txBox="1"/>
          <p:nvPr/>
        </p:nvSpPr>
        <p:spPr>
          <a:xfrm>
            <a:off x="8001000" y="1907177"/>
            <a:ext cx="640080" cy="274320"/>
          </a:xfrm>
          <a:prstGeom prst="rect">
            <a:avLst/>
          </a:prstGeom>
          <a:noFill/>
          <a:ln/>
        </p:spPr>
        <p:txBody>
          <a:bodyPr wrap="square" lIns="0" tIns="0" rIns="0" bIns="0" rtlCol="0" anchor="ctr"/>
          <a:lstStyle/>
          <a:p>
            <a:pPr algn="r" indent="0" marL="0">
              <a:buNone/>
            </a:pPr>
            <a:r>
              <a:rPr lang="en-US" sz="1200" b="1" dirty="0">
                <a:solidFill>
                  <a:schemeClr val="accent1"/>
                </a:solidFill>
                <a:latin typeface="Calibri" pitchFamily="34" charset="0"/>
                <a:ea typeface="Calibri" pitchFamily="34" charset="-122"/>
                <a:cs typeface="Calibri" pitchFamily="34" charset="-120"/>
              </a:rPr>
              <a:t>192×</a:t>
            </a:r>
            <a:endParaRPr lang="en-US" sz="1200" dirty="0"/>
          </a:p>
        </p:txBody>
      </p:sp>
      <p:sp>
        <p:nvSpPr>
          <p:cNvPr id="19" name="Text 16"/>
          <p:cNvSpPr txBox="1"/>
          <p:nvPr/>
        </p:nvSpPr>
        <p:spPr>
          <a:xfrm>
            <a:off x="8001000" y="1489166"/>
            <a:ext cx="640080" cy="274320"/>
          </a:xfrm>
          <a:prstGeom prst="rect">
            <a:avLst/>
          </a:prstGeom>
          <a:noFill/>
          <a:ln/>
        </p:spPr>
        <p:txBody>
          <a:bodyPr wrap="square" lIns="0" tIns="0" rIns="0" bIns="0" rtlCol="0" anchor="ctr"/>
          <a:lstStyle/>
          <a:p>
            <a:pPr algn="r" indent="0" marL="0">
              <a:buNone/>
            </a:pPr>
            <a:r>
              <a:rPr lang="en-US" sz="1200" b="1" dirty="0">
                <a:solidFill>
                  <a:schemeClr val="accent1"/>
                </a:solidFill>
                <a:latin typeface="Calibri" pitchFamily="34" charset="0"/>
                <a:ea typeface="Calibri" pitchFamily="34" charset="-122"/>
                <a:cs typeface="Calibri" pitchFamily="34" charset="-120"/>
              </a:rPr>
              <a:t>248×</a:t>
            </a:r>
            <a:endParaRPr lang="en-US" sz="1200" dirty="0"/>
          </a:p>
        </p:txBody>
      </p:sp>
      <p:sp>
        <p:nvSpPr>
          <p:cNvPr id="20" name="Text 17"/>
          <p:cNvSpPr txBox="1"/>
          <p:nvPr/>
        </p:nvSpPr>
        <p:spPr>
          <a:xfrm>
            <a:off x="457200" y="4709160"/>
            <a:ext cx="7772400" cy="274320"/>
          </a:xfrm>
          <a:prstGeom prst="rect">
            <a:avLst/>
          </a:prstGeom>
          <a:noFill/>
          <a:ln/>
        </p:spPr>
        <p:txBody>
          <a:bodyPr wrap="square" lIns="0" tIns="0" rIns="0" bIns="0" rtlCol="0" anchor="ctr"/>
          <a:lstStyle/>
          <a:p>
            <a:pPr indent="0" marL="0">
              <a:buNone/>
            </a:pPr>
            <a:r>
              <a:rPr lang="en-US" sz="1000" i="1" dirty="0">
                <a:solidFill>
                  <a:srgbClr val="6B7286"/>
                </a:solidFill>
                <a:latin typeface="Calibri" pitchFamily="34" charset="0"/>
                <a:ea typeface="Calibri" pitchFamily="34" charset="-122"/>
                <a:cs typeface="Calibri" pitchFamily="34" charset="-120"/>
              </a:rPr>
              <a:t>Naive Bayes on the SMS Spam Collection, 80/20 split (Almeida et al., 2011; Pedregosa et al., 2011). Bars use a log scale.</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AI Application: The Bayesian Spam Filter</a:t>
            </a:r>
            <a:endParaRPr lang="en-US" sz="30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Used in Apache SpamAssassin and Mozilla Thunderbird's adaptive junk filter</a:t>
            </a:r>
            <a:endParaRPr lang="en-US" sz="1500" dirty="0"/>
          </a:p>
        </p:txBody>
      </p:sp>
      <p:sp>
        <p:nvSpPr>
          <p:cNvPr id="4" name="Message arrives circle"/>
          <p:cNvSpPr/>
          <p:nvPr/>
        </p:nvSpPr>
        <p:spPr>
          <a:xfrm>
            <a:off x="841248" y="1600200"/>
            <a:ext cx="731520" cy="731520"/>
          </a:xfrm>
          <a:prstGeom prst="ellipse">
            <a:avLst/>
          </a:prstGeom>
          <a:solidFill>
            <a:schemeClr val="accent4"/>
          </a:solidFill>
          <a:ln/>
        </p:spPr>
      </p:sp>
      <p:pic>
        <p:nvPicPr>
          <p:cNvPr id="5" name="Message arrives icon" descr="preencoded.png">    </p:cNvPr>
          <p:cNvPicPr>
            <a:picLocks noChangeAspect="1"/>
          </p:cNvPicPr>
          <p:nvPr/>
        </p:nvPicPr>
        <p:blipFill>
          <a:blip r:embed="rId1"/>
          <a:stretch>
            <a:fillRect/>
          </a:stretch>
        </p:blipFill>
        <p:spPr>
          <a:xfrm>
            <a:off x="1024128" y="1783080"/>
            <a:ext cx="365760" cy="365760"/>
          </a:xfrm>
          <a:prstGeom prst="rect">
            <a:avLst/>
          </a:prstGeom>
        </p:spPr>
      </p:pic>
      <p:sp>
        <p:nvSpPr>
          <p:cNvPr id="6" name="Text 3"/>
          <p:cNvSpPr txBox="1"/>
          <p:nvPr/>
        </p:nvSpPr>
        <p:spPr>
          <a:xfrm>
            <a:off x="457200" y="2468880"/>
            <a:ext cx="1508760" cy="59436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Message arrives</a:t>
            </a:r>
            <a:endParaRPr lang="en-US" sz="1400" dirty="0"/>
          </a:p>
        </p:txBody>
      </p:sp>
      <p:sp>
        <p:nvSpPr>
          <p:cNvPr id="7" name="Arrow 0"/>
          <p:cNvSpPr/>
          <p:nvPr/>
        </p:nvSpPr>
        <p:spPr>
          <a:xfrm>
            <a:off x="1719072" y="1856232"/>
            <a:ext cx="320040" cy="228600"/>
          </a:xfrm>
          <a:prstGeom prst="rightArrow">
            <a:avLst/>
          </a:prstGeom>
          <a:solidFill>
            <a:srgbClr val="B9BFCC"/>
          </a:solidFill>
          <a:ln/>
        </p:spPr>
      </p:sp>
      <p:sp>
        <p:nvSpPr>
          <p:cNvPr id="8" name="Split into words circle"/>
          <p:cNvSpPr/>
          <p:nvPr/>
        </p:nvSpPr>
        <p:spPr>
          <a:xfrm>
            <a:off x="2542032" y="1600200"/>
            <a:ext cx="731520" cy="731520"/>
          </a:xfrm>
          <a:prstGeom prst="ellipse">
            <a:avLst/>
          </a:prstGeom>
          <a:solidFill>
            <a:schemeClr val="accent6"/>
          </a:solidFill>
          <a:ln/>
        </p:spPr>
      </p:sp>
      <p:pic>
        <p:nvPicPr>
          <p:cNvPr id="9" name="Split into words icon" descr="preencoded.png">    </p:cNvPr>
          <p:cNvPicPr>
            <a:picLocks noChangeAspect="1"/>
          </p:cNvPicPr>
          <p:nvPr/>
        </p:nvPicPr>
        <p:blipFill>
          <a:blip r:embed="rId2"/>
          <a:stretch>
            <a:fillRect/>
          </a:stretch>
        </p:blipFill>
        <p:spPr>
          <a:xfrm>
            <a:off x="2724912" y="1783080"/>
            <a:ext cx="365760" cy="365760"/>
          </a:xfrm>
          <a:prstGeom prst="rect">
            <a:avLst/>
          </a:prstGeom>
        </p:spPr>
      </p:pic>
      <p:sp>
        <p:nvSpPr>
          <p:cNvPr id="10" name="Text 6"/>
          <p:cNvSpPr txBox="1"/>
          <p:nvPr/>
        </p:nvSpPr>
        <p:spPr>
          <a:xfrm>
            <a:off x="2157984" y="2468880"/>
            <a:ext cx="1508760" cy="59436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Split into words</a:t>
            </a:r>
            <a:endParaRPr lang="en-US" sz="1400" dirty="0"/>
          </a:p>
        </p:txBody>
      </p:sp>
      <p:sp>
        <p:nvSpPr>
          <p:cNvPr id="11" name="Arrow 1"/>
          <p:cNvSpPr/>
          <p:nvPr/>
        </p:nvSpPr>
        <p:spPr>
          <a:xfrm>
            <a:off x="3419856" y="1856232"/>
            <a:ext cx="320040" cy="228600"/>
          </a:xfrm>
          <a:prstGeom prst="rightArrow">
            <a:avLst/>
          </a:prstGeom>
          <a:solidFill>
            <a:srgbClr val="B9BFCC"/>
          </a:solidFill>
          <a:ln/>
        </p:spPr>
      </p:sp>
      <p:sp>
        <p:nvSpPr>
          <p:cNvPr id="12" name="Look up P(word | Spam) circle"/>
          <p:cNvSpPr/>
          <p:nvPr/>
        </p:nvSpPr>
        <p:spPr>
          <a:xfrm>
            <a:off x="4242816" y="1600200"/>
            <a:ext cx="731520" cy="731520"/>
          </a:xfrm>
          <a:prstGeom prst="ellipse">
            <a:avLst/>
          </a:prstGeom>
          <a:solidFill>
            <a:schemeClr val="accent3"/>
          </a:solidFill>
          <a:ln/>
        </p:spPr>
      </p:sp>
      <p:pic>
        <p:nvPicPr>
          <p:cNvPr id="13" name="Look up P(word | Spam) icon" descr="preencoded.png">    </p:cNvPr>
          <p:cNvPicPr>
            <a:picLocks noChangeAspect="1"/>
          </p:cNvPicPr>
          <p:nvPr/>
        </p:nvPicPr>
        <p:blipFill>
          <a:blip r:embed="rId3"/>
          <a:stretch>
            <a:fillRect/>
          </a:stretch>
        </p:blipFill>
        <p:spPr>
          <a:xfrm>
            <a:off x="4425696" y="1783080"/>
            <a:ext cx="365760" cy="365760"/>
          </a:xfrm>
          <a:prstGeom prst="rect">
            <a:avLst/>
          </a:prstGeom>
        </p:spPr>
      </p:pic>
      <p:sp>
        <p:nvSpPr>
          <p:cNvPr id="14" name="Text 9"/>
          <p:cNvSpPr txBox="1"/>
          <p:nvPr/>
        </p:nvSpPr>
        <p:spPr>
          <a:xfrm>
            <a:off x="3858768" y="2468880"/>
            <a:ext cx="1508760" cy="59436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Look up P(word | Spam)</a:t>
            </a:r>
            <a:endParaRPr lang="en-US" sz="1400" dirty="0"/>
          </a:p>
        </p:txBody>
      </p:sp>
      <p:sp>
        <p:nvSpPr>
          <p:cNvPr id="15" name="Arrow 2"/>
          <p:cNvSpPr/>
          <p:nvPr/>
        </p:nvSpPr>
        <p:spPr>
          <a:xfrm>
            <a:off x="5120640" y="1856232"/>
            <a:ext cx="320040" cy="228600"/>
          </a:xfrm>
          <a:prstGeom prst="rightArrow">
            <a:avLst/>
          </a:prstGeom>
          <a:solidFill>
            <a:srgbClr val="B9BFCC"/>
          </a:solidFill>
          <a:ln/>
        </p:spPr>
      </p:sp>
      <p:sp>
        <p:nvSpPr>
          <p:cNvPr id="16" name="Combine with Bayes circle"/>
          <p:cNvSpPr/>
          <p:nvPr/>
        </p:nvSpPr>
        <p:spPr>
          <a:xfrm>
            <a:off x="5943600" y="1600200"/>
            <a:ext cx="731520" cy="731520"/>
          </a:xfrm>
          <a:prstGeom prst="ellipse">
            <a:avLst/>
          </a:prstGeom>
          <a:solidFill>
            <a:schemeClr val="accent2"/>
          </a:solidFill>
          <a:ln/>
        </p:spPr>
      </p:sp>
      <p:pic>
        <p:nvPicPr>
          <p:cNvPr id="17" name="Combine with Bayes icon" descr="preencoded.png">    </p:cNvPr>
          <p:cNvPicPr>
            <a:picLocks noChangeAspect="1"/>
          </p:cNvPicPr>
          <p:nvPr/>
        </p:nvPicPr>
        <p:blipFill>
          <a:blip r:embed="rId4"/>
          <a:stretch>
            <a:fillRect/>
          </a:stretch>
        </p:blipFill>
        <p:spPr>
          <a:xfrm>
            <a:off x="6126480" y="1783080"/>
            <a:ext cx="365760" cy="365760"/>
          </a:xfrm>
          <a:prstGeom prst="rect">
            <a:avLst/>
          </a:prstGeom>
        </p:spPr>
      </p:pic>
      <p:sp>
        <p:nvSpPr>
          <p:cNvPr id="18" name="Text 12"/>
          <p:cNvSpPr txBox="1"/>
          <p:nvPr/>
        </p:nvSpPr>
        <p:spPr>
          <a:xfrm>
            <a:off x="5559552" y="2468880"/>
            <a:ext cx="1508760" cy="59436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Combine with Bayes</a:t>
            </a:r>
            <a:endParaRPr lang="en-US" sz="1400" dirty="0"/>
          </a:p>
        </p:txBody>
      </p:sp>
      <p:sp>
        <p:nvSpPr>
          <p:cNvPr id="19" name="Arrow 3"/>
          <p:cNvSpPr/>
          <p:nvPr/>
        </p:nvSpPr>
        <p:spPr>
          <a:xfrm>
            <a:off x="6821424" y="1856232"/>
            <a:ext cx="320040" cy="228600"/>
          </a:xfrm>
          <a:prstGeom prst="rightArrow">
            <a:avLst/>
          </a:prstGeom>
          <a:solidFill>
            <a:srgbClr val="B9BFCC"/>
          </a:solidFill>
          <a:ln/>
        </p:spPr>
      </p:sp>
      <p:sp>
        <p:nvSpPr>
          <p:cNvPr id="20" name="Score vs. threshold circle"/>
          <p:cNvSpPr/>
          <p:nvPr/>
        </p:nvSpPr>
        <p:spPr>
          <a:xfrm>
            <a:off x="7644384" y="1600200"/>
            <a:ext cx="731520" cy="731520"/>
          </a:xfrm>
          <a:prstGeom prst="ellipse">
            <a:avLst/>
          </a:prstGeom>
          <a:solidFill>
            <a:schemeClr val="accent1"/>
          </a:solidFill>
          <a:ln/>
        </p:spPr>
      </p:sp>
      <p:pic>
        <p:nvPicPr>
          <p:cNvPr id="21" name="Score vs. threshold icon" descr="preencoded.png">    </p:cNvPr>
          <p:cNvPicPr>
            <a:picLocks noChangeAspect="1"/>
          </p:cNvPicPr>
          <p:nvPr/>
        </p:nvPicPr>
        <p:blipFill>
          <a:blip r:embed="rId5"/>
          <a:stretch>
            <a:fillRect/>
          </a:stretch>
        </p:blipFill>
        <p:spPr>
          <a:xfrm>
            <a:off x="7827264" y="1783080"/>
            <a:ext cx="365760" cy="365760"/>
          </a:xfrm>
          <a:prstGeom prst="rect">
            <a:avLst/>
          </a:prstGeom>
        </p:spPr>
      </p:pic>
      <p:sp>
        <p:nvSpPr>
          <p:cNvPr id="22" name="Text 15"/>
          <p:cNvSpPr txBox="1"/>
          <p:nvPr/>
        </p:nvSpPr>
        <p:spPr>
          <a:xfrm>
            <a:off x="7260336" y="2468880"/>
            <a:ext cx="1508760" cy="59436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Score vs. threshold</a:t>
            </a:r>
            <a:endParaRPr lang="en-US" sz="1400" dirty="0"/>
          </a:p>
        </p:txBody>
      </p:sp>
      <p:sp>
        <p:nvSpPr>
          <p:cNvPr id="23" name="Inbox card"/>
          <p:cNvSpPr/>
          <p:nvPr/>
        </p:nvSpPr>
        <p:spPr>
          <a:xfrm>
            <a:off x="457200" y="3291840"/>
            <a:ext cx="4023360" cy="1188720"/>
          </a:xfrm>
          <a:prstGeom prst="roundRect">
            <a:avLst>
              <a:gd name="adj" fmla="val 6154"/>
            </a:avLst>
          </a:prstGeom>
          <a:solidFill>
            <a:schemeClr val="bg2"/>
          </a:solidFill>
          <a:ln/>
        </p:spPr>
      </p:sp>
      <p:sp>
        <p:nvSpPr>
          <p:cNvPr id="24" name="Inbox circle"/>
          <p:cNvSpPr/>
          <p:nvPr/>
        </p:nvSpPr>
        <p:spPr>
          <a:xfrm>
            <a:off x="640080" y="3520440"/>
            <a:ext cx="548640" cy="548640"/>
          </a:xfrm>
          <a:prstGeom prst="ellipse">
            <a:avLst/>
          </a:prstGeom>
          <a:solidFill>
            <a:schemeClr val="accent2"/>
          </a:solidFill>
          <a:ln/>
        </p:spPr>
      </p:sp>
      <p:pic>
        <p:nvPicPr>
          <p:cNvPr id="25" name="Inbox icon" descr="preencoded.png">    </p:cNvPr>
          <p:cNvPicPr>
            <a:picLocks noChangeAspect="1"/>
          </p:cNvPicPr>
          <p:nvPr/>
        </p:nvPicPr>
        <p:blipFill>
          <a:blip r:embed="rId6"/>
          <a:stretch>
            <a:fillRect/>
          </a:stretch>
        </p:blipFill>
        <p:spPr>
          <a:xfrm>
            <a:off x="777240" y="3657600"/>
            <a:ext cx="274320" cy="274320"/>
          </a:xfrm>
          <a:prstGeom prst="rect">
            <a:avLst/>
          </a:prstGeom>
        </p:spPr>
      </p:pic>
      <p:sp>
        <p:nvSpPr>
          <p:cNvPr id="26" name="Text 18"/>
          <p:cNvSpPr txBox="1"/>
          <p:nvPr/>
        </p:nvSpPr>
        <p:spPr>
          <a:xfrm>
            <a:off x="1371600" y="3383280"/>
            <a:ext cx="2971800" cy="10058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Low score → Inbox</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Each “Not junk” click updates the word counts</a:t>
            </a:r>
            <a:endParaRPr lang="en-US" sz="1400" dirty="0"/>
          </a:p>
        </p:txBody>
      </p:sp>
      <p:sp>
        <p:nvSpPr>
          <p:cNvPr id="27" name="Junk card"/>
          <p:cNvSpPr/>
          <p:nvPr/>
        </p:nvSpPr>
        <p:spPr>
          <a:xfrm>
            <a:off x="4663440" y="3291840"/>
            <a:ext cx="4023360" cy="1188720"/>
          </a:xfrm>
          <a:prstGeom prst="roundRect">
            <a:avLst>
              <a:gd name="adj" fmla="val 6154"/>
            </a:avLst>
          </a:prstGeom>
          <a:solidFill>
            <a:schemeClr val="bg2"/>
          </a:solidFill>
          <a:ln/>
        </p:spPr>
      </p:sp>
      <p:sp>
        <p:nvSpPr>
          <p:cNvPr id="28" name="Junk circle"/>
          <p:cNvSpPr/>
          <p:nvPr/>
        </p:nvSpPr>
        <p:spPr>
          <a:xfrm>
            <a:off x="4846320" y="3520440"/>
            <a:ext cx="548640" cy="548640"/>
          </a:xfrm>
          <a:prstGeom prst="ellipse">
            <a:avLst/>
          </a:prstGeom>
          <a:solidFill>
            <a:schemeClr val="accent1"/>
          </a:solidFill>
          <a:ln/>
        </p:spPr>
      </p:sp>
      <p:pic>
        <p:nvPicPr>
          <p:cNvPr id="29" name="Junk icon" descr="preencoded.png">    </p:cNvPr>
          <p:cNvPicPr>
            <a:picLocks noChangeAspect="1"/>
          </p:cNvPicPr>
          <p:nvPr/>
        </p:nvPicPr>
        <p:blipFill>
          <a:blip r:embed="rId7"/>
          <a:stretch>
            <a:fillRect/>
          </a:stretch>
        </p:blipFill>
        <p:spPr>
          <a:xfrm>
            <a:off x="4983480" y="3657600"/>
            <a:ext cx="274320" cy="274320"/>
          </a:xfrm>
          <a:prstGeom prst="rect">
            <a:avLst/>
          </a:prstGeom>
        </p:spPr>
      </p:pic>
      <p:sp>
        <p:nvSpPr>
          <p:cNvPr id="30" name="Text 21"/>
          <p:cNvSpPr txBox="1"/>
          <p:nvPr/>
        </p:nvSpPr>
        <p:spPr>
          <a:xfrm>
            <a:off x="5577840" y="3383280"/>
            <a:ext cx="2971800" cy="100584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High score → Junk folder</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Each “Junk” click teaches it your inbox</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Case Studies: Successes and Challenges</a:t>
            </a:r>
            <a:endParaRPr lang="en-US" sz="3000" dirty="0"/>
          </a:p>
        </p:txBody>
      </p:sp>
      <p:sp>
        <p:nvSpPr>
          <p:cNvPr id="3" name="Successes card"/>
          <p:cNvSpPr/>
          <p:nvPr/>
        </p:nvSpPr>
        <p:spPr>
          <a:xfrm>
            <a:off x="457200" y="1051560"/>
            <a:ext cx="4023360" cy="3520440"/>
          </a:xfrm>
          <a:prstGeom prst="roundRect">
            <a:avLst>
              <a:gd name="adj" fmla="val 2078"/>
            </a:avLst>
          </a:prstGeom>
          <a:solidFill>
            <a:schemeClr val="bg2"/>
          </a:solidFill>
          <a:ln/>
        </p:spPr>
      </p:sp>
      <p:sp>
        <p:nvSpPr>
          <p:cNvPr id="4" name="Successes circle"/>
          <p:cNvSpPr/>
          <p:nvPr/>
        </p:nvSpPr>
        <p:spPr>
          <a:xfrm>
            <a:off x="685800" y="1188720"/>
            <a:ext cx="502920" cy="502920"/>
          </a:xfrm>
          <a:prstGeom prst="ellipse">
            <a:avLst/>
          </a:prstGeom>
          <a:solidFill>
            <a:schemeClr val="accent2"/>
          </a:solidFill>
          <a:ln/>
        </p:spPr>
      </p:sp>
      <p:pic>
        <p:nvPicPr>
          <p:cNvPr id="5" name="Successes icon" descr="preencoded.png">    </p:cNvPr>
          <p:cNvPicPr>
            <a:picLocks noChangeAspect="1"/>
          </p:cNvPicPr>
          <p:nvPr/>
        </p:nvPicPr>
        <p:blipFill>
          <a:blip r:embed="rId1"/>
          <a:stretch>
            <a:fillRect/>
          </a:stretch>
        </p:blipFill>
        <p:spPr>
          <a:xfrm>
            <a:off x="811530" y="1314450"/>
            <a:ext cx="251460" cy="251460"/>
          </a:xfrm>
          <a:prstGeom prst="rect">
            <a:avLst/>
          </a:prstGeom>
        </p:spPr>
      </p:pic>
      <p:sp>
        <p:nvSpPr>
          <p:cNvPr id="6" name="Text 3"/>
          <p:cNvSpPr txBox="1"/>
          <p:nvPr/>
        </p:nvSpPr>
        <p:spPr>
          <a:xfrm>
            <a:off x="1325880" y="1188720"/>
            <a:ext cx="2926080" cy="50292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Successes</a:t>
            </a:r>
            <a:endParaRPr lang="en-US" sz="2000" dirty="0"/>
          </a:p>
        </p:txBody>
      </p:sp>
      <p:sp>
        <p:nvSpPr>
          <p:cNvPr id="7" name="Text 4"/>
          <p:cNvSpPr txBox="1"/>
          <p:nvPr/>
        </p:nvSpPr>
        <p:spPr>
          <a:xfrm>
            <a:off x="731520" y="1920240"/>
            <a:ext cx="3566160" cy="251460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latin typeface="Calibri" pitchFamily="34" charset="0"/>
                <a:ea typeface="Calibri" pitchFamily="34" charset="-122"/>
                <a:cs typeface="Calibri" pitchFamily="34" charset="-120"/>
              </a:rPr>
              <a:t>Graham's filter: </a:t>
            </a:r>
            <a:pPr indent="0" marL="0">
              <a:spcAft>
                <a:spcPts val="1200"/>
              </a:spcAft>
              <a:buNone/>
            </a:pPr>
            <a:r>
              <a:rPr lang="en-US" sz="1600" dirty="0">
                <a:solidFill>
                  <a:schemeClr val="tx2"/>
                </a:solidFill>
                <a:latin typeface="Calibri" pitchFamily="34" charset="0"/>
                <a:ea typeface="Calibri" pitchFamily="34" charset="-122"/>
                <a:cs typeface="Calibri" pitchFamily="34" charset="-120"/>
              </a:rPr>
              <a:t>missed under 5 in 1,000 spams, 0 false positives (Graham, 2002)</a:t>
            </a:r>
            <a:endParaRPr lang="en-US" sz="1600" dirty="0"/>
          </a:p>
          <a:p>
            <a:pPr marL="342900" indent="-342900">
              <a:spcAft>
                <a:spcPts val="1200"/>
              </a:spcAft>
              <a:buSzPct val="100000"/>
              <a:buChar char="•"/>
            </a:pPr>
            <a:r>
              <a:rPr lang="en-US" sz="1600" b="1" dirty="0">
                <a:solidFill>
                  <a:schemeClr val="tx1"/>
                </a:solidFill>
                <a:latin typeface="Calibri" pitchFamily="34" charset="0"/>
                <a:ea typeface="Calibri" pitchFamily="34" charset="-122"/>
                <a:cs typeface="Calibri" pitchFamily="34" charset="-120"/>
              </a:rPr>
              <a:t>My test: </a:t>
            </a:r>
            <a:pPr indent="0" marL="0">
              <a:spcAft>
                <a:spcPts val="1200"/>
              </a:spcAft>
              <a:buNone/>
            </a:pPr>
            <a:r>
              <a:rPr lang="en-US" sz="1600" dirty="0">
                <a:solidFill>
                  <a:schemeClr val="tx2"/>
                </a:solidFill>
                <a:latin typeface="Calibri" pitchFamily="34" charset="0"/>
                <a:ea typeface="Calibri" pitchFamily="34" charset="-122"/>
                <a:cs typeface="Calibri" pitchFamily="34" charset="-120"/>
              </a:rPr>
              <a:t>98.5% accuracy, trained in about 1 ms</a:t>
            </a:r>
            <a:endParaRPr lang="en-US" sz="1600" dirty="0"/>
          </a:p>
          <a:p>
            <a:pPr marL="342900" indent="-342900">
              <a:spcAft>
                <a:spcPts val="1200"/>
              </a:spcAft>
              <a:buSzPct val="100000"/>
              <a:buChar char="•"/>
            </a:pPr>
            <a:r>
              <a:rPr lang="en-US" sz="1600" b="1" dirty="0">
                <a:solidFill>
                  <a:schemeClr val="tx1"/>
                </a:solidFill>
                <a:latin typeface="Calibri" pitchFamily="34" charset="0"/>
                <a:ea typeface="Calibri" pitchFamily="34" charset="-122"/>
                <a:cs typeface="Calibri" pitchFamily="34" charset="-120"/>
              </a:rPr>
              <a:t>Learns per user </a:t>
            </a:r>
            <a:pPr indent="0" marL="0">
              <a:spcAft>
                <a:spcPts val="1200"/>
              </a:spcAft>
              <a:buNone/>
            </a:pPr>
            <a:r>
              <a:rPr lang="en-US" sz="1600" dirty="0">
                <a:solidFill>
                  <a:schemeClr val="tx2"/>
                </a:solidFill>
                <a:latin typeface="Calibri" pitchFamily="34" charset="0"/>
                <a:ea typeface="Calibri" pitchFamily="34" charset="-122"/>
                <a:cs typeface="Calibri" pitchFamily="34" charset="-120"/>
              </a:rPr>
              <a:t>from every junk click</a:t>
            </a:r>
            <a:endParaRPr lang="en-US" sz="1600" dirty="0"/>
          </a:p>
        </p:txBody>
      </p:sp>
      <p:sp>
        <p:nvSpPr>
          <p:cNvPr id="8" name="Challenges card"/>
          <p:cNvSpPr/>
          <p:nvPr/>
        </p:nvSpPr>
        <p:spPr>
          <a:xfrm>
            <a:off x="4663440" y="1051560"/>
            <a:ext cx="4023360" cy="3520440"/>
          </a:xfrm>
          <a:prstGeom prst="roundRect">
            <a:avLst>
              <a:gd name="adj" fmla="val 2078"/>
            </a:avLst>
          </a:prstGeom>
          <a:solidFill>
            <a:schemeClr val="bg2"/>
          </a:solidFill>
          <a:ln/>
        </p:spPr>
      </p:sp>
      <p:sp>
        <p:nvSpPr>
          <p:cNvPr id="9" name="Challenges circle"/>
          <p:cNvSpPr/>
          <p:nvPr/>
        </p:nvSpPr>
        <p:spPr>
          <a:xfrm>
            <a:off x="4892040" y="1188720"/>
            <a:ext cx="502920" cy="502920"/>
          </a:xfrm>
          <a:prstGeom prst="ellipse">
            <a:avLst/>
          </a:prstGeom>
          <a:solidFill>
            <a:schemeClr val="accent1"/>
          </a:solidFill>
          <a:ln/>
        </p:spPr>
      </p:sp>
      <p:pic>
        <p:nvPicPr>
          <p:cNvPr id="10" name="Challenges icon" descr="preencoded.png">    </p:cNvPr>
          <p:cNvPicPr>
            <a:picLocks noChangeAspect="1"/>
          </p:cNvPicPr>
          <p:nvPr/>
        </p:nvPicPr>
        <p:blipFill>
          <a:blip r:embed="rId2"/>
          <a:stretch>
            <a:fillRect/>
          </a:stretch>
        </p:blipFill>
        <p:spPr>
          <a:xfrm>
            <a:off x="5017770" y="1314450"/>
            <a:ext cx="251460" cy="251460"/>
          </a:xfrm>
          <a:prstGeom prst="rect">
            <a:avLst/>
          </a:prstGeom>
        </p:spPr>
      </p:pic>
      <p:sp>
        <p:nvSpPr>
          <p:cNvPr id="11" name="Text 7"/>
          <p:cNvSpPr txBox="1"/>
          <p:nvPr/>
        </p:nvSpPr>
        <p:spPr>
          <a:xfrm>
            <a:off x="5532120" y="1188720"/>
            <a:ext cx="292608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Challenges</a:t>
            </a:r>
            <a:endParaRPr lang="en-US" sz="2000" dirty="0"/>
          </a:p>
        </p:txBody>
      </p:sp>
      <p:sp>
        <p:nvSpPr>
          <p:cNvPr id="12" name="Text 8"/>
          <p:cNvSpPr txBox="1"/>
          <p:nvPr/>
        </p:nvSpPr>
        <p:spPr>
          <a:xfrm>
            <a:off x="4937760" y="1920240"/>
            <a:ext cx="3566160" cy="251460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1"/>
                </a:solidFill>
                <a:latin typeface="Calibri" pitchFamily="34" charset="0"/>
                <a:ea typeface="Calibri" pitchFamily="34" charset="-122"/>
                <a:cs typeface="Calibri" pitchFamily="34" charset="-120"/>
              </a:rPr>
              <a:t>Bayesian poisoning: </a:t>
            </a:r>
            <a:pPr indent="0" marL="0">
              <a:spcAft>
                <a:spcPts val="1200"/>
              </a:spcAft>
              <a:buNone/>
            </a:pPr>
            <a:r>
              <a:rPr lang="en-US" sz="1600" dirty="0">
                <a:solidFill>
                  <a:schemeClr val="tx2"/>
                </a:solidFill>
                <a:latin typeface="Calibri" pitchFamily="34" charset="0"/>
                <a:ea typeface="Calibri" pitchFamily="34" charset="-122"/>
                <a:cs typeface="Calibri" pitchFamily="34" charset="-120"/>
              </a:rPr>
              <a:t>adding innocent words fooled a Bayes filter (Wittel &amp; Wu, 2004)</a:t>
            </a:r>
            <a:endParaRPr lang="en-US" sz="1600" dirty="0"/>
          </a:p>
          <a:p>
            <a:pPr marL="342900" indent="-342900">
              <a:spcAft>
                <a:spcPts val="1200"/>
              </a:spcAft>
              <a:buSzPct val="100000"/>
              <a:buChar char="•"/>
            </a:pPr>
            <a:r>
              <a:rPr lang="en-US" sz="1600" b="1" dirty="0">
                <a:solidFill>
                  <a:schemeClr val="tx1"/>
                </a:solidFill>
                <a:latin typeface="Calibri" pitchFamily="34" charset="0"/>
                <a:ea typeface="Calibri" pitchFamily="34" charset="-122"/>
                <a:cs typeface="Calibri" pitchFamily="34" charset="-120"/>
              </a:rPr>
              <a:t>Tricks: </a:t>
            </a:r>
            <a:pPr indent="0" marL="0">
              <a:spcAft>
                <a:spcPts val="1200"/>
              </a:spcAft>
              <a:buNone/>
            </a:pPr>
            <a:r>
              <a:rPr lang="en-US" sz="1600" dirty="0">
                <a:solidFill>
                  <a:schemeClr val="tx2"/>
                </a:solidFill>
                <a:latin typeface="Calibri" pitchFamily="34" charset="0"/>
                <a:ea typeface="Calibri" pitchFamily="34" charset="-122"/>
                <a:cs typeface="Calibri" pitchFamily="34" charset="-120"/>
              </a:rPr>
              <a:t>misspellings like “FR33” and text hidden in images</a:t>
            </a:r>
            <a:endParaRPr lang="en-US" sz="1600" dirty="0"/>
          </a:p>
          <a:p>
            <a:pPr marL="342900" indent="-342900">
              <a:spcAft>
                <a:spcPts val="1200"/>
              </a:spcAft>
              <a:buSzPct val="100000"/>
              <a:buChar char="•"/>
            </a:pPr>
            <a:r>
              <a:rPr lang="en-US" sz="1600" b="1" dirty="0">
                <a:solidFill>
                  <a:schemeClr val="tx1"/>
                </a:solidFill>
                <a:latin typeface="Calibri" pitchFamily="34" charset="0"/>
                <a:ea typeface="Calibri" pitchFamily="34" charset="-122"/>
                <a:cs typeface="Calibri" pitchFamily="34" charset="-120"/>
              </a:rPr>
              <a:t>Gmail now adds deep learning: </a:t>
            </a:r>
            <a:pPr indent="0" marL="0">
              <a:spcAft>
                <a:spcPts val="1200"/>
              </a:spcAft>
              <a:buNone/>
            </a:pPr>
            <a:r>
              <a:rPr lang="en-US" sz="1600" dirty="0">
                <a:solidFill>
                  <a:schemeClr val="tx2"/>
                </a:solidFill>
                <a:latin typeface="Calibri" pitchFamily="34" charset="0"/>
                <a:ea typeface="Calibri" pitchFamily="34" charset="-122"/>
                <a:cs typeface="Calibri" pitchFamily="34" charset="-120"/>
              </a:rPr>
              <a:t>about 100 million more spam blocked daily (Kumaran, 2019)</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Free Market Considerations</a:t>
            </a:r>
            <a:endParaRPr lang="en-US" sz="3000" dirty="0"/>
          </a:p>
        </p:txBody>
      </p:sp>
      <p:sp>
        <p:nvSpPr>
          <p:cNvPr id="3" name="Cost card"/>
          <p:cNvSpPr/>
          <p:nvPr/>
        </p:nvSpPr>
        <p:spPr>
          <a:xfrm>
            <a:off x="457200" y="1051560"/>
            <a:ext cx="2926080" cy="3474720"/>
          </a:xfrm>
          <a:prstGeom prst="roundRect">
            <a:avLst>
              <a:gd name="adj" fmla="val 2500"/>
            </a:avLst>
          </a:prstGeom>
          <a:solidFill>
            <a:schemeClr val="tx1"/>
          </a:solidFill>
          <a:ln/>
        </p:spPr>
      </p:sp>
      <p:sp>
        <p:nvSpPr>
          <p:cNvPr id="4" name="Text 2"/>
          <p:cNvSpPr txBox="1"/>
          <p:nvPr/>
        </p:nvSpPr>
        <p:spPr>
          <a:xfrm>
            <a:off x="457200" y="1234440"/>
            <a:ext cx="2926080" cy="731520"/>
          </a:xfrm>
          <a:prstGeom prst="rect">
            <a:avLst/>
          </a:prstGeom>
          <a:noFill/>
          <a:ln/>
        </p:spPr>
        <p:txBody>
          <a:bodyPr wrap="square" lIns="0" tIns="0" rIns="0" bIns="0" rtlCol="0" anchor="ctr"/>
          <a:lstStyle/>
          <a:p>
            <a:pPr algn="ctr" indent="0" marL="0">
              <a:buNone/>
            </a:pPr>
            <a:r>
              <a:rPr lang="en-US" sz="4400" b="1" dirty="0">
                <a:solidFill>
                  <a:srgbClr val="F08A80"/>
                </a:solidFill>
                <a:latin typeface="Cambria" pitchFamily="34" charset="0"/>
                <a:ea typeface="Cambria" pitchFamily="34" charset="-122"/>
                <a:cs typeface="Cambria" pitchFamily="34" charset="-120"/>
              </a:rPr>
              <a:t>$20B</a:t>
            </a:r>
            <a:endParaRPr lang="en-US" sz="4400" dirty="0"/>
          </a:p>
        </p:txBody>
      </p:sp>
      <p:sp>
        <p:nvSpPr>
          <p:cNvPr id="5" name="Text 3"/>
          <p:cNvSpPr txBox="1"/>
          <p:nvPr/>
        </p:nvSpPr>
        <p:spPr>
          <a:xfrm>
            <a:off x="685800" y="1965960"/>
            <a:ext cx="2468880" cy="548640"/>
          </a:xfrm>
          <a:prstGeom prst="rect">
            <a:avLst/>
          </a:prstGeom>
          <a:noFill/>
          <a:ln/>
        </p:spPr>
        <p:txBody>
          <a:bodyPr wrap="square" lIns="0" tIns="0" rIns="0" bIns="0" rtlCol="0" anchor="ctr"/>
          <a:lstStyle/>
          <a:p>
            <a:pPr algn="ctr" indent="0" marL="0">
              <a:buNone/>
            </a:pPr>
            <a:r>
              <a:rPr lang="en-US" sz="1300" dirty="0">
                <a:solidFill>
                  <a:schemeClr val="bg2"/>
                </a:solidFill>
                <a:latin typeface="Calibri" pitchFamily="34" charset="0"/>
                <a:ea typeface="Calibri" pitchFamily="34" charset="-122"/>
                <a:cs typeface="Calibri" pitchFamily="34" charset="-120"/>
              </a:rPr>
              <a:t>yearly cost of spam to U.S. firms and consumers</a:t>
            </a:r>
            <a:endParaRPr lang="en-US" sz="1300" dirty="0"/>
          </a:p>
        </p:txBody>
      </p:sp>
      <p:sp>
        <p:nvSpPr>
          <p:cNvPr id="6" name="Text 4"/>
          <p:cNvSpPr txBox="1"/>
          <p:nvPr/>
        </p:nvSpPr>
        <p:spPr>
          <a:xfrm>
            <a:off x="457200" y="2697480"/>
            <a:ext cx="2926080" cy="731520"/>
          </a:xfrm>
          <a:prstGeom prst="rect">
            <a:avLst/>
          </a:prstGeom>
          <a:noFill/>
          <a:ln/>
        </p:spPr>
        <p:txBody>
          <a:bodyPr wrap="square" lIns="0" tIns="0" rIns="0" bIns="0" rtlCol="0" anchor="ctr"/>
          <a:lstStyle/>
          <a:p>
            <a:pPr algn="ctr" indent="0" marL="0">
              <a:buNone/>
            </a:pPr>
            <a:r>
              <a:rPr lang="en-US" sz="4400" b="1" dirty="0">
                <a:solidFill>
                  <a:srgbClr val="6FD3B5"/>
                </a:solidFill>
                <a:latin typeface="Cambria" pitchFamily="34" charset="0"/>
                <a:ea typeface="Cambria" pitchFamily="34" charset="-122"/>
                <a:cs typeface="Cambria" pitchFamily="34" charset="-120"/>
              </a:rPr>
              <a:t>$200M</a:t>
            </a:r>
            <a:endParaRPr lang="en-US" sz="4400" dirty="0"/>
          </a:p>
        </p:txBody>
      </p:sp>
      <p:sp>
        <p:nvSpPr>
          <p:cNvPr id="7" name="Text 5"/>
          <p:cNvSpPr txBox="1"/>
          <p:nvPr/>
        </p:nvSpPr>
        <p:spPr>
          <a:xfrm>
            <a:off x="685800" y="3429000"/>
            <a:ext cx="2468880" cy="365760"/>
          </a:xfrm>
          <a:prstGeom prst="rect">
            <a:avLst/>
          </a:prstGeom>
          <a:noFill/>
          <a:ln/>
        </p:spPr>
        <p:txBody>
          <a:bodyPr wrap="square" lIns="0" tIns="0" rIns="0" bIns="0" rtlCol="0" anchor="ctr"/>
          <a:lstStyle/>
          <a:p>
            <a:pPr algn="ctr" indent="0" marL="0">
              <a:buNone/>
            </a:pPr>
            <a:r>
              <a:rPr lang="en-US" sz="1300" dirty="0">
                <a:solidFill>
                  <a:schemeClr val="bg2"/>
                </a:solidFill>
                <a:latin typeface="Calibri" pitchFamily="34" charset="0"/>
                <a:ea typeface="Calibri" pitchFamily="34" charset="-122"/>
                <a:cs typeface="Calibri" pitchFamily="34" charset="-120"/>
              </a:rPr>
              <a:t>yearly revenue spammers earn worldwide</a:t>
            </a:r>
            <a:endParaRPr lang="en-US" sz="1300" dirty="0"/>
          </a:p>
        </p:txBody>
      </p:sp>
      <p:sp>
        <p:nvSpPr>
          <p:cNvPr id="8" name="Text 6"/>
          <p:cNvSpPr txBox="1"/>
          <p:nvPr/>
        </p:nvSpPr>
        <p:spPr>
          <a:xfrm>
            <a:off x="457200" y="4023360"/>
            <a:ext cx="2926080" cy="320040"/>
          </a:xfrm>
          <a:prstGeom prst="rect">
            <a:avLst/>
          </a:prstGeom>
          <a:noFill/>
          <a:ln/>
        </p:spPr>
        <p:txBody>
          <a:bodyPr wrap="square" lIns="0" tIns="0" rIns="0" bIns="0" rtlCol="0" anchor="ctr"/>
          <a:lstStyle/>
          <a:p>
            <a:pPr algn="ctr" indent="0" marL="0">
              <a:buNone/>
            </a:pPr>
            <a:r>
              <a:rPr lang="en-US" sz="1100" i="1" dirty="0">
                <a:solidFill>
                  <a:srgbClr val="A9B8D6"/>
                </a:solidFill>
                <a:latin typeface="Calibri" pitchFamily="34" charset="0"/>
                <a:ea typeface="Calibri" pitchFamily="34" charset="-122"/>
                <a:cs typeface="Calibri" pitchFamily="34" charset="-120"/>
              </a:rPr>
              <a:t>(Rao &amp; Reiley, 2012)</a:t>
            </a:r>
            <a:endParaRPr lang="en-US" sz="1100" dirty="0"/>
          </a:p>
        </p:txBody>
      </p:sp>
      <p:sp>
        <p:nvSpPr>
          <p:cNvPr id="9" name="Consumer demand circle"/>
          <p:cNvSpPr/>
          <p:nvPr/>
        </p:nvSpPr>
        <p:spPr>
          <a:xfrm>
            <a:off x="3657600" y="1143000"/>
            <a:ext cx="548640" cy="548640"/>
          </a:xfrm>
          <a:prstGeom prst="ellipse">
            <a:avLst/>
          </a:prstGeom>
          <a:solidFill>
            <a:schemeClr val="accent2"/>
          </a:solidFill>
          <a:ln/>
        </p:spPr>
      </p:sp>
      <p:pic>
        <p:nvPicPr>
          <p:cNvPr id="10" name="Consumer demand icon" descr="preencoded.png">    </p:cNvPr>
          <p:cNvPicPr>
            <a:picLocks noChangeAspect="1"/>
          </p:cNvPicPr>
          <p:nvPr/>
        </p:nvPicPr>
        <p:blipFill>
          <a:blip r:embed="rId1"/>
          <a:stretch>
            <a:fillRect/>
          </a:stretch>
        </p:blipFill>
        <p:spPr>
          <a:xfrm>
            <a:off x="3794760" y="1280160"/>
            <a:ext cx="274320" cy="274320"/>
          </a:xfrm>
          <a:prstGeom prst="rect">
            <a:avLst/>
          </a:prstGeom>
        </p:spPr>
      </p:pic>
      <p:sp>
        <p:nvSpPr>
          <p:cNvPr id="11" name="Text 8"/>
          <p:cNvSpPr txBox="1"/>
          <p:nvPr/>
        </p:nvSpPr>
        <p:spPr>
          <a:xfrm>
            <a:off x="4389120" y="1097280"/>
            <a:ext cx="4297680" cy="6858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Consumer demand</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People want a clean, safe inbox</a:t>
            </a:r>
            <a:endParaRPr lang="en-US" sz="1500" dirty="0"/>
          </a:p>
        </p:txBody>
      </p:sp>
      <p:sp>
        <p:nvSpPr>
          <p:cNvPr id="12" name="Competitive advantage circle"/>
          <p:cNvSpPr/>
          <p:nvPr/>
        </p:nvSpPr>
        <p:spPr>
          <a:xfrm>
            <a:off x="3657600" y="2011680"/>
            <a:ext cx="548640" cy="548640"/>
          </a:xfrm>
          <a:prstGeom prst="ellipse">
            <a:avLst/>
          </a:prstGeom>
          <a:solidFill>
            <a:schemeClr val="accent3"/>
          </a:solidFill>
          <a:ln/>
        </p:spPr>
      </p:sp>
      <p:pic>
        <p:nvPicPr>
          <p:cNvPr id="13" name="Competitive advantage icon" descr="preencoded.png">    </p:cNvPr>
          <p:cNvPicPr>
            <a:picLocks noChangeAspect="1"/>
          </p:cNvPicPr>
          <p:nvPr/>
        </p:nvPicPr>
        <p:blipFill>
          <a:blip r:embed="rId2"/>
          <a:stretch>
            <a:fillRect/>
          </a:stretch>
        </p:blipFill>
        <p:spPr>
          <a:xfrm>
            <a:off x="3794760" y="2148840"/>
            <a:ext cx="274320" cy="274320"/>
          </a:xfrm>
          <a:prstGeom prst="rect">
            <a:avLst/>
          </a:prstGeom>
        </p:spPr>
      </p:pic>
      <p:sp>
        <p:nvSpPr>
          <p:cNvPr id="14" name="Text 10"/>
          <p:cNvSpPr txBox="1"/>
          <p:nvPr/>
        </p:nvSpPr>
        <p:spPr>
          <a:xfrm>
            <a:off x="4389120" y="1965960"/>
            <a:ext cx="4297680" cy="6858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Competitive advantage</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Email providers compete on filtering</a:t>
            </a:r>
            <a:endParaRPr lang="en-US" sz="1500" dirty="0"/>
          </a:p>
        </p:txBody>
      </p:sp>
      <p:sp>
        <p:nvSpPr>
          <p:cNvPr id="15" name="Cost and resources circle"/>
          <p:cNvSpPr/>
          <p:nvPr/>
        </p:nvSpPr>
        <p:spPr>
          <a:xfrm>
            <a:off x="3657600" y="2880360"/>
            <a:ext cx="548640" cy="548640"/>
          </a:xfrm>
          <a:prstGeom prst="ellipse">
            <a:avLst/>
          </a:prstGeom>
          <a:solidFill>
            <a:schemeClr val="accent6"/>
          </a:solidFill>
          <a:ln/>
        </p:spPr>
      </p:sp>
      <p:pic>
        <p:nvPicPr>
          <p:cNvPr id="16" name="Cost and resources icon" descr="preencoded.png">    </p:cNvPr>
          <p:cNvPicPr>
            <a:picLocks noChangeAspect="1"/>
          </p:cNvPicPr>
          <p:nvPr/>
        </p:nvPicPr>
        <p:blipFill>
          <a:blip r:embed="rId3"/>
          <a:stretch>
            <a:fillRect/>
          </a:stretch>
        </p:blipFill>
        <p:spPr>
          <a:xfrm>
            <a:off x="3794760" y="3017520"/>
            <a:ext cx="274320" cy="274320"/>
          </a:xfrm>
          <a:prstGeom prst="rect">
            <a:avLst/>
          </a:prstGeom>
        </p:spPr>
      </p:pic>
      <p:sp>
        <p:nvSpPr>
          <p:cNvPr id="17" name="Text 12"/>
          <p:cNvSpPr txBox="1"/>
          <p:nvPr/>
        </p:nvSpPr>
        <p:spPr>
          <a:xfrm>
            <a:off x="4389120" y="2834640"/>
            <a:ext cx="4297680" cy="6858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Cost and resources</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Simple counting runs on ordinary servers</a:t>
            </a:r>
            <a:endParaRPr lang="en-US" sz="1500" dirty="0"/>
          </a:p>
        </p:txBody>
      </p:sp>
      <p:sp>
        <p:nvSpPr>
          <p:cNvPr id="18" name="New markets circle"/>
          <p:cNvSpPr/>
          <p:nvPr/>
        </p:nvSpPr>
        <p:spPr>
          <a:xfrm>
            <a:off x="3657600" y="3749040"/>
            <a:ext cx="548640" cy="548640"/>
          </a:xfrm>
          <a:prstGeom prst="ellipse">
            <a:avLst/>
          </a:prstGeom>
          <a:solidFill>
            <a:schemeClr val="accent1"/>
          </a:solidFill>
          <a:ln/>
        </p:spPr>
      </p:sp>
      <p:pic>
        <p:nvPicPr>
          <p:cNvPr id="19" name="New markets icon" descr="preencoded.png">    </p:cNvPr>
          <p:cNvPicPr>
            <a:picLocks noChangeAspect="1"/>
          </p:cNvPicPr>
          <p:nvPr/>
        </p:nvPicPr>
        <p:blipFill>
          <a:blip r:embed="rId4"/>
          <a:stretch>
            <a:fillRect/>
          </a:stretch>
        </p:blipFill>
        <p:spPr>
          <a:xfrm>
            <a:off x="3794760" y="3886200"/>
            <a:ext cx="274320" cy="274320"/>
          </a:xfrm>
          <a:prstGeom prst="rect">
            <a:avLst/>
          </a:prstGeom>
        </p:spPr>
      </p:pic>
      <p:sp>
        <p:nvSpPr>
          <p:cNvPr id="20" name="Text 14"/>
          <p:cNvSpPr txBox="1"/>
          <p:nvPr/>
        </p:nvSpPr>
        <p:spPr>
          <a:xfrm>
            <a:off x="4389120" y="3703320"/>
            <a:ext cx="4297680" cy="68580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New markets</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Email security, open-source tools, fraud screening</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ightbulb circle"/>
          <p:cNvSpPr/>
          <p:nvPr/>
        </p:nvSpPr>
        <p:spPr>
          <a:xfrm>
            <a:off x="548640" y="548640"/>
            <a:ext cx="731520" cy="731520"/>
          </a:xfrm>
          <a:prstGeom prst="ellipse">
            <a:avLst/>
          </a:prstGeom>
          <a:solidFill>
            <a:schemeClr val="accent3"/>
          </a:solidFill>
          <a:ln/>
        </p:spPr>
      </p:sp>
      <p:pic>
        <p:nvPicPr>
          <p:cNvPr id="3" name="Lightbulb icon" descr="preencoded.png">    </p:cNvPr>
          <p:cNvPicPr>
            <a:picLocks noChangeAspect="1"/>
          </p:cNvPicPr>
          <p:nvPr/>
        </p:nvPicPr>
        <p:blipFill>
          <a:blip r:embed="rId1"/>
          <a:stretch>
            <a:fillRect/>
          </a:stretch>
        </p:blipFill>
        <p:spPr>
          <a:xfrm>
            <a:off x="731520" y="731520"/>
            <a:ext cx="365760" cy="365760"/>
          </a:xfrm>
          <a:prstGeom prst="rect">
            <a:avLst/>
          </a:prstGeom>
        </p:spPr>
      </p:pic>
      <p:sp>
        <p:nvSpPr>
          <p:cNvPr id="4" name="Text 0"/>
          <p:cNvSpPr/>
          <p:nvPr>
            <p:ph idx="100" type="title" hasCustomPrompt="1"/>
          </p:nvPr>
        </p:nvSpPr>
        <p:spPr>
          <a:xfrm>
            <a:off x="548640" y="137160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Update What You Believe When You See Evidence</a:t>
            </a:r>
            <a:endParaRPr lang="en-US" sz="4000" dirty="0"/>
          </a:p>
        </p:txBody>
      </p:sp>
      <p:sp>
        <p:nvSpPr>
          <p:cNvPr id="5" name="Text 0"/>
          <p:cNvSpPr/>
          <p:nvPr>
            <p:ph idx="101" type="body" hasCustomPrompt="1"/>
          </p:nvPr>
        </p:nvSpPr>
        <p:spPr>
          <a:xfrm>
            <a:off x="548640" y="2926080"/>
            <a:ext cx="8046720" cy="14630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bg2"/>
                </a:solidFill>
                <a:latin typeface="Calibri" pitchFamily="34" charset="0"/>
                <a:ea typeface="Calibri" pitchFamily="34" charset="-122"/>
                <a:cs typeface="Calibri" pitchFamily="34" charset="-120"/>
              </a:rPr>
              <a:t>A simple formula protects inboxes at scale</a:t>
            </a:r>
            <a:endParaRPr lang="en-US" sz="1800" dirty="0"/>
          </a:p>
          <a:p>
            <a:pPr marL="342900" indent="-342900">
              <a:spcAft>
                <a:spcPts val="600"/>
              </a:spcAft>
              <a:buSzPct val="100000"/>
              <a:buChar char="•"/>
            </a:pPr>
            <a:r>
              <a:rPr lang="en-US" sz="1800" dirty="0">
                <a:solidFill>
                  <a:schemeClr val="bg2"/>
                </a:solidFill>
                <a:latin typeface="Calibri" pitchFamily="34" charset="0"/>
                <a:ea typeface="Calibri" pitchFamily="34" charset="-122"/>
                <a:cs typeface="Calibri" pitchFamily="34" charset="-120"/>
              </a:rPr>
              <a:t>Cheap, fast, and explainable, and it still drives the market</a:t>
            </a:r>
            <a:endParaRPr lang="en-US" sz="1800" dirty="0"/>
          </a:p>
          <a:p>
            <a:pPr marL="342900" indent="-342900">
              <a:spcAft>
                <a:spcPts val="600"/>
              </a:spcAft>
              <a:buSzPct val="100000"/>
              <a:buChar char="•"/>
            </a:pPr>
            <a:r>
              <a:rPr lang="en-US" sz="1800" dirty="0">
                <a:solidFill>
                  <a:schemeClr val="bg2"/>
                </a:solidFill>
                <a:latin typeface="Calibri" pitchFamily="34" charset="0"/>
                <a:ea typeface="Calibri" pitchFamily="34" charset="-122"/>
                <a:cs typeface="Calibri" pitchFamily="34" charset="-120"/>
              </a:rPr>
              <a:t>Built with transparency, privacy, and fairness, it serves the common good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457200" y="960120"/>
            <a:ext cx="4023360" cy="3749040"/>
          </a:xfrm>
          <a:prstGeom prst="rect">
            <a:avLst/>
          </a:prstGeom>
          <a:noFill/>
          <a:ln/>
        </p:spPr>
        <p:txBody>
          <a:bodyPr wrap="square" lIns="0" tIns="0" rIns="0" bIns="0" rtlCol="0" anchor="t"/>
          <a:lstStyle/>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Almeida, T. A., Gómez Hidalgo, J. M., &amp; Yamakami, A. (2011). Contributions to the study of SMS spam filtering: New collection and results. In Proceedings of the 11th ACM Symposium on Document Engineering (pp. 259–262). https://doi.org/10.1145/2034691.2034742</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Apache Software Foundation. (n.d.). Apache SpamAssassin. https://spamassassin.apache.org/</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Bayes, T. (1763). An essay towards solving a problem in the doctrine of chances. Philosophical Transactions of the Royal Society of London, 53, 370–418. https://doi.org/10.1098/rstl.1763.0053</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Ethics &amp; Religious Liberty Commission. (2019). Artificial intelligence: An evangelical statement of principles. https://erlc.com/resource-library/statements/artificial-intelligence-an-evangelical-statement-of-principles/</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Gigerenzer, G., &amp; Hoffrage, U. (1995). How to improve Bayesian reasoning without instruction: Frequency formats. Psychological Review, 102(4), 684–704. https://doi.org/10.1037/0033-295X.102.4.684</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Graham, P. (2002). A plan for spam. https://www.paulgraham.com/spam.html</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Kumaran, N. (2019, February 6). Spam does not bring us joy: Ridding Gmail of 100 million more spam messages with TensorFlow. Google Workspace Blog. https://workspace.google.com/blog/product-announcements/ridding-gmail-of-100-million-more-spam-messages-with-tensorflow</a:t>
            </a:r>
            <a:endParaRPr lang="en-US" sz="1000" dirty="0"/>
          </a:p>
        </p:txBody>
      </p:sp>
      <p:sp>
        <p:nvSpPr>
          <p:cNvPr id="4" name="Text 2"/>
          <p:cNvSpPr txBox="1"/>
          <p:nvPr/>
        </p:nvSpPr>
        <p:spPr>
          <a:xfrm>
            <a:off x="4663440" y="960120"/>
            <a:ext cx="4023360" cy="3749040"/>
          </a:xfrm>
          <a:prstGeom prst="rect">
            <a:avLst/>
          </a:prstGeom>
          <a:noFill/>
          <a:ln/>
        </p:spPr>
        <p:txBody>
          <a:bodyPr wrap="square" lIns="0" tIns="0" rIns="0" bIns="0" rtlCol="0" anchor="t"/>
          <a:lstStyle/>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New International Version. (2011). Bible Gateway. https://www.biblegateway.com/versions/New-International-Version-NIV-Bible/</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Pedregosa, F., Varoquaux, G., Gramfort, A., Michel, V., Thirion, B., Grisel, O., ... Duchesnay, É. (2011). Scikit-learn: Machine learning in Python. Journal of Machine Learning Research, 12, 2825–2830.</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Pontifical Academy for Life. (2020). Rome call for AI ethics. https://www.romecall.org/</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Rao, J. M., &amp; Reiley, D. H. (2012). The economics of spam. Journal of Economic Perspectives, 26(3), 87–110. https://doi.org/10.1257/jep.26.3.87</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Sahami, M., Dumais, S., Heckerman, D., &amp; Horvitz, E. (1998). A Bayesian approach to filtering junk e-mail. In Learning for Text Categorization: Papers from the 1998 Workshop (AAAI Technical Report WS-98-05). AAAI Press.</a:t>
            </a:r>
            <a:endParaRPr lang="en-US" sz="1000" dirty="0"/>
          </a:p>
          <a:p>
            <a:pPr indent="0" marL="0">
              <a:spcAft>
                <a:spcPts val="500"/>
              </a:spcAft>
              <a:buNone/>
            </a:pPr>
            <a:r>
              <a:rPr lang="en-US" sz="1000" dirty="0">
                <a:solidFill>
                  <a:schemeClr val="tx2"/>
                </a:solidFill>
                <a:latin typeface="Calibri" pitchFamily="34" charset="0"/>
                <a:ea typeface="Calibri" pitchFamily="34" charset="-122"/>
                <a:cs typeface="Calibri" pitchFamily="34" charset="-120"/>
              </a:rPr>
              <a:t>Wittel, G. L., &amp; Wu, S. F. (2004). On attacking statistical spam filters. In Proceedings of the First Conference on Email and Anti-Spam (CEAS).</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0"/>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ayes Spam">
  <a:themeElements>
    <a:clrScheme name="Bayes Spam">
      <a:dk1>
        <a:srgbClr val="1E2233"/>
      </a:dk1>
      <a:lt1>
        <a:srgbClr val="FFFFFF"/>
      </a:lt1>
      <a:dk2>
        <a:srgbClr val="3B4256"/>
      </a:dk2>
      <a:lt2>
        <a:srgbClr val="F1F3F7"/>
      </a:lt2>
      <a:accent1>
        <a:srgbClr val="C8423B"/>
      </a:accent1>
      <a:accent2>
        <a:srgbClr val="1F8A70"/>
      </a:accent2>
      <a:accent3>
        <a:srgbClr val="E0A526"/>
      </a:accent3>
      <a:accent4>
        <a:srgbClr val="5B6C8F"/>
      </a:accent4>
      <a:accent5>
        <a:srgbClr val="8E5572"/>
      </a:accent5>
      <a:accent6>
        <a:srgbClr val="2D6A8F"/>
      </a:accent6>
      <a:hlink>
        <a:srgbClr val="2D6A8F"/>
      </a:hlink>
      <a:folHlink>
        <a:srgbClr val="8E5572"/>
      </a:folHlink>
    </a:clrScheme>
    <a:fontScheme name="Bayes Spa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 Theorem: How AI Learns to Spot Spam</dc:title>
  <dc:subject>PptxGenJS Presentation</dc:subject>
  <dc:creator>Yashu Lanki</dc:creator>
  <cp:lastModifiedBy>Yashu Lanki</cp:lastModifiedBy>
  <cp:revision>1</cp:revision>
  <dcterms:created xsi:type="dcterms:W3CDTF">2026-10-23T19:39:09Z</dcterms:created>
  <dcterms:modified xsi:type="dcterms:W3CDTF">2026-10-23T19:39:09Z</dcterms:modified>
</cp:coreProperties>
</file>